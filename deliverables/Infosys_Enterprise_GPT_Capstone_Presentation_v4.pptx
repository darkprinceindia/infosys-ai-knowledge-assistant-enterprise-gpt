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9225d1aae3440e" /><Relationship Type="http://schemas.openxmlformats.org/officeDocument/2006/relationships/extended-properties" Target="/docProps/app.xml" Id="R5c7674b2b6e44410" /><Relationship Type="http://schemas.openxmlformats.org/officeDocument/2006/relationships/officeDocument" Target="/ppt/presentation.xml" Id="Rc5cc30bd9c404e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3d6439f83449fa"/>
  </p:sldMasterIdLst>
  <p:notesMasterIdLst>
    <p:notesMasterId xmlns:r="http://schemas.openxmlformats.org/officeDocument/2006/relationships" r:id="R616eadff56a347fc"/>
  </p:notesMasterIdLst>
  <p:sldIdLst>
    <p:sldId xmlns:r="http://schemas.openxmlformats.org/officeDocument/2006/relationships" id="256" r:id="R09fe970c296349ba"/>
    <p:sldId xmlns:r="http://schemas.openxmlformats.org/officeDocument/2006/relationships" id="257" r:id="Rac472c22a332435a"/>
    <p:sldId xmlns:r="http://schemas.openxmlformats.org/officeDocument/2006/relationships" id="258" r:id="Rd5484f25659040d3"/>
    <p:sldId xmlns:r="http://schemas.openxmlformats.org/officeDocument/2006/relationships" id="259" r:id="Ra75cdf079e854f90"/>
    <p:sldId xmlns:r="http://schemas.openxmlformats.org/officeDocument/2006/relationships" id="260" r:id="Rd809070a4b5a49d8"/>
    <p:sldId xmlns:r="http://schemas.openxmlformats.org/officeDocument/2006/relationships" id="261" r:id="R35b63fba1b8a4692"/>
    <p:sldId xmlns:r="http://schemas.openxmlformats.org/officeDocument/2006/relationships" id="262" r:id="R63f7741fe6984c3f"/>
    <p:sldId xmlns:r="http://schemas.openxmlformats.org/officeDocument/2006/relationships" id="263" r:id="R8e23352645f94a18"/>
    <p:sldId xmlns:r="http://schemas.openxmlformats.org/officeDocument/2006/relationships" id="264" r:id="R9e749f03bbea47d1"/>
    <p:sldId xmlns:r="http://schemas.openxmlformats.org/officeDocument/2006/relationships" id="265" r:id="Re4b66caadaa14399"/>
    <p:sldId xmlns:r="http://schemas.openxmlformats.org/officeDocument/2006/relationships" id="266" r:id="R17f7ef867e3745d3"/>
    <p:sldId xmlns:r="http://schemas.openxmlformats.org/officeDocument/2006/relationships" id="267" r:id="R5bdf4de0788544f7"/>
    <p:sldId xmlns:r="http://schemas.openxmlformats.org/officeDocument/2006/relationships" id="268" r:id="R841684566a584df3"/>
    <p:sldId xmlns:r="http://schemas.openxmlformats.org/officeDocument/2006/relationships" id="269" r:id="R64dd017d360c4f1a"/>
    <p:sldId xmlns:r="http://schemas.openxmlformats.org/officeDocument/2006/relationships" id="270" r:id="Rbb69bf7bfef54ed5"/>
    <p:sldId xmlns:r="http://schemas.openxmlformats.org/officeDocument/2006/relationships" id="271" r:id="Rabdf203351064c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f955b3b22a4d5f" /><Relationship Type="http://schemas.openxmlformats.org/officeDocument/2006/relationships/slideMaster" Target="/ppt/slideMasters/slideMaster1.xml" Id="R3f3d6439f83449fa" /><Relationship Type="http://schemas.openxmlformats.org/officeDocument/2006/relationships/notesMaster" Target="/ppt/notesMasters/notesMaster1.xml" Id="R616eadff56a347fc" /><Relationship Type="http://schemas.openxmlformats.org/officeDocument/2006/relationships/presProps" Target="/ppt/presProps.xml" Id="R06fc9c67112e4a44" /><Relationship Type="http://schemas.openxmlformats.org/officeDocument/2006/relationships/tableStyles" Target="/ppt/tableStyles.xml" Id="R11f6596d8ec44c7e" /><Relationship Type="http://schemas.openxmlformats.org/officeDocument/2006/relationships/slide" Target="/ppt/slides/slide1.xml" Id="R09fe970c296349ba" /><Relationship Type="http://schemas.openxmlformats.org/officeDocument/2006/relationships/slide" Target="/ppt/slides/slide2.xml" Id="Rac472c22a332435a" /><Relationship Type="http://schemas.openxmlformats.org/officeDocument/2006/relationships/slide" Target="/ppt/slides/slide3.xml" Id="Rd5484f25659040d3" /><Relationship Type="http://schemas.openxmlformats.org/officeDocument/2006/relationships/slide" Target="/ppt/slides/slide4.xml" Id="Ra75cdf079e854f90" /><Relationship Type="http://schemas.openxmlformats.org/officeDocument/2006/relationships/slide" Target="/ppt/slides/slide5.xml" Id="Rd809070a4b5a49d8" /><Relationship Type="http://schemas.openxmlformats.org/officeDocument/2006/relationships/slide" Target="/ppt/slides/slide6.xml" Id="R35b63fba1b8a4692" /><Relationship Type="http://schemas.openxmlformats.org/officeDocument/2006/relationships/slide" Target="/ppt/slides/slide7.xml" Id="R63f7741fe6984c3f" /><Relationship Type="http://schemas.openxmlformats.org/officeDocument/2006/relationships/slide" Target="/ppt/slides/slide8.xml" Id="R8e23352645f94a18" /><Relationship Type="http://schemas.openxmlformats.org/officeDocument/2006/relationships/slide" Target="/ppt/slides/slide9.xml" Id="R9e749f03bbea47d1" /><Relationship Type="http://schemas.openxmlformats.org/officeDocument/2006/relationships/slide" Target="/ppt/slides/slide10.xml" Id="Re4b66caadaa14399" /><Relationship Type="http://schemas.openxmlformats.org/officeDocument/2006/relationships/slide" Target="/ppt/slides/slide11.xml" Id="R17f7ef867e3745d3" /><Relationship Type="http://schemas.openxmlformats.org/officeDocument/2006/relationships/slide" Target="/ppt/slides/slide12.xml" Id="R5bdf4de0788544f7" /><Relationship Type="http://schemas.openxmlformats.org/officeDocument/2006/relationships/slide" Target="/ppt/slides/slide13.xml" Id="R841684566a584df3" /><Relationship Type="http://schemas.openxmlformats.org/officeDocument/2006/relationships/slide" Target="/ppt/slides/slide14.xml" Id="R64dd017d360c4f1a" /><Relationship Type="http://schemas.openxmlformats.org/officeDocument/2006/relationships/slide" Target="/ppt/slides/slide15.xml" Id="Rbb69bf7bfef54ed5" /><Relationship Type="http://schemas.openxmlformats.org/officeDocument/2006/relationships/slide" Target="/ppt/slides/slide16.xml" Id="Rabdf203351064c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2151f53a9143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a3bc1f27ce4528" /><Relationship Type="http://schemas.openxmlformats.org/officeDocument/2006/relationships/notesMaster" Target="/ppt/notesMasters/notesMaster1.xml" Id="R6a844d95a30343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ed223930004f1e" /><Relationship Type="http://schemas.openxmlformats.org/officeDocument/2006/relationships/notesMaster" Target="/ppt/notesMasters/notesMaster1.xml" Id="R8c3fd373992d4b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7ce3f844e74b5d" /><Relationship Type="http://schemas.openxmlformats.org/officeDocument/2006/relationships/notesMaster" Target="/ppt/notesMasters/notesMaster1.xml" Id="R15273ce47fba46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2780217a1d42d3" /><Relationship Type="http://schemas.openxmlformats.org/officeDocument/2006/relationships/notesMaster" Target="/ppt/notesMasters/notesMaster1.xml" Id="Rffcea99c04b94a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385d23488b4a6f" /><Relationship Type="http://schemas.openxmlformats.org/officeDocument/2006/relationships/notesMaster" Target="/ppt/notesMasters/notesMaster1.xml" Id="R817a79474ab54b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f68abd834d40b0" /><Relationship Type="http://schemas.openxmlformats.org/officeDocument/2006/relationships/notesMaster" Target="/ppt/notesMasters/notesMaster1.xml" Id="R68016d8b070045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faaf961acc429f" /><Relationship Type="http://schemas.openxmlformats.org/officeDocument/2006/relationships/notesMaster" Target="/ppt/notesMasters/notesMaster1.xml" Id="R22803a9190bb48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ea447900354c89" /><Relationship Type="http://schemas.openxmlformats.org/officeDocument/2006/relationships/notesMaster" Target="/ppt/notesMasters/notesMaster1.xml" Id="R9b263acfc3cd4c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051477637c4139" /><Relationship Type="http://schemas.openxmlformats.org/officeDocument/2006/relationships/notesMaster" Target="/ppt/notesMasters/notesMaster1.xml" Id="R4676521d163e4a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73ae493c3144a7" /><Relationship Type="http://schemas.openxmlformats.org/officeDocument/2006/relationships/notesMaster" Target="/ppt/notesMasters/notesMaster1.xml" Id="Rdca93345184d44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e9e59d7c924196" /><Relationship Type="http://schemas.openxmlformats.org/officeDocument/2006/relationships/notesMaster" Target="/ppt/notesMasters/notesMaster1.xml" Id="R5c9151eadcb14e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92cec253d94556" /><Relationship Type="http://schemas.openxmlformats.org/officeDocument/2006/relationships/notesMaster" Target="/ppt/notesMasters/notesMaster1.xml" Id="Rf9a8e77ffe5342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1e4a1cad2a4e94" /><Relationship Type="http://schemas.openxmlformats.org/officeDocument/2006/relationships/notesMaster" Target="/ppt/notesMasters/notesMaster1.xml" Id="R98aaddf2acaf4c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591fec7e3542d9" /><Relationship Type="http://schemas.openxmlformats.org/officeDocument/2006/relationships/notesMaster" Target="/ppt/notesMasters/notesMaster1.xml" Id="R9bbb52a84ac54c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4974de708646cc" /><Relationship Type="http://schemas.openxmlformats.org/officeDocument/2006/relationships/notesMaster" Target="/ppt/notesMasters/notesMaster1.xml" Id="Red5c6294cc754f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d4abfe9fb04301" /><Relationship Type="http://schemas.openxmlformats.org/officeDocument/2006/relationships/notesMaster" Target="/ppt/notesMasters/notesMaster1.xml" Id="Ra79298dff4044f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 capstone prototype. Explain the question-to-cited-answer workflow before opening the live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assistant looks up document passages, cites them, and withholds content outside the signed-in user’s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question box and left navigation. Administrators additionally see upload and quality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calls app.py. The API calls knowledge.py for local retrieval or the read-only MCP tool for HR. SQLite stores passages and activity. Gemini is optional after access filtering.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passage retains the document title, section, owner, department, classification and relevant dates. These fields support citations and access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API classifies the question, retrieves passages, checks permissions and document freshness, then either constructs a cited answer or declines.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Access is checked inside retrieval and again after the MCP tool returns. Source preview uses the same role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the app uses a small static frontend and Python backend. The key and database stay server side.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short excerpt from app.py. The API never trusts connector output without applying the user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backend validates the upload, extracts text, creates section passages and stores their metadata and search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answer is built from permitted retrieved passages. Point to the route, citation, source card and feedback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citation [1] in the live demo. The API checks authorization again before returning the source preview.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operational usage signals. Explain how the administrator can use no-answer questions and feedback to improve the document collection.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app is a review environment. Render Free storage is ephemeral, so uploads and activity can reset after restart. Secrets remain in Render environment variables.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deployed product for the live walkthrough. The shared demo password should be given to reviewers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all eight name placeholders with the actual makers before presenting. Thank the audience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71d4cd39248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e7b49b1cec47db" /><Relationship Type="http://schemas.openxmlformats.org/officeDocument/2006/relationships/slideLayout" Target="/ppt/slideLayouts/slideLayout1.xml" Id="R5e77897aded949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77897aded949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5cbca28c84b16" /><Relationship Type="http://schemas.openxmlformats.org/officeDocument/2006/relationships/notesSlide" Target="/ppt/notesSlides/notesSlide1.xml" Id="R9c684339215c4f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7e61682eb4426" /><Relationship Type="http://schemas.openxmlformats.org/officeDocument/2006/relationships/notesSlide" Target="/ppt/notesSlides/notesSlide2.xml" Id="R5ca1751ad94b47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1c3422974454c" /><Relationship Type="http://schemas.openxmlformats.org/officeDocument/2006/relationships/image" Target="/ppt/media/image.jpeg" Id="R120451f742654a76" /><Relationship Type="http://schemas.openxmlformats.org/officeDocument/2006/relationships/notesSlide" Target="/ppt/notesSlides/notesSlide3.xml" Id="Rf5b7ebb9bc5f45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f6851d8464036" /><Relationship Type="http://schemas.openxmlformats.org/officeDocument/2006/relationships/notesSlide" Target="/ppt/notesSlides/notesSlide4.xml" Id="R592f5c14eca949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9c372fbe74c1f" /><Relationship Type="http://schemas.openxmlformats.org/officeDocument/2006/relationships/notesSlide" Target="/ppt/notesSlides/notesSlide5.xml" Id="R2470aba2ca2f4b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a434c9e52496e" /><Relationship Type="http://schemas.openxmlformats.org/officeDocument/2006/relationships/notesSlide" Target="/ppt/notesSlides/notesSlide6.xml" Id="R8e403bb70f3e4e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203101b9b4a5c" /><Relationship Type="http://schemas.openxmlformats.org/officeDocument/2006/relationships/image" Target="/ppt/media/image2.jpeg" Id="R2d1749887f8d422b" /><Relationship Type="http://schemas.openxmlformats.org/officeDocument/2006/relationships/notesSlide" Target="/ppt/notesSlides/notesSlide7.xml" Id="R6a4686b807cc46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c7a6482bd4091" /><Relationship Type="http://schemas.openxmlformats.org/officeDocument/2006/relationships/notesSlide" Target="/ppt/notesSlides/notesSlide8.xml" Id="Rc1821d506b6f4a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98192e9df427b" /><Relationship Type="http://schemas.openxmlformats.org/officeDocument/2006/relationships/notesSlide" Target="/ppt/notesSlides/notesSlide9.xml" Id="R7b1eb01de6744a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5b4f38f324bd3" /><Relationship Type="http://schemas.openxmlformats.org/officeDocument/2006/relationships/image" Target="/ppt/media/image3.jpeg" Id="Rc44b120f0da64b1e" /><Relationship Type="http://schemas.openxmlformats.org/officeDocument/2006/relationships/notesSlide" Target="/ppt/notesSlides/notesSlide10.xml" Id="Rceced45a268547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037c42334494b" /><Relationship Type="http://schemas.openxmlformats.org/officeDocument/2006/relationships/image" Target="/ppt/media/image4.jpeg" Id="Re0306ab224b6435b" /><Relationship Type="http://schemas.openxmlformats.org/officeDocument/2006/relationships/notesSlide" Target="/ppt/notesSlides/notesSlide11.xml" Id="R1c4e129b2af34a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0fa5c022946eb" /><Relationship Type="http://schemas.openxmlformats.org/officeDocument/2006/relationships/image" Target="/ppt/media/image5.jpeg" Id="R534650b466014684" /><Relationship Type="http://schemas.openxmlformats.org/officeDocument/2006/relationships/notesSlide" Target="/ppt/notesSlides/notesSlide12.xml" Id="Rd728ebe10aba49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a097e2e9e4f58" /><Relationship Type="http://schemas.openxmlformats.org/officeDocument/2006/relationships/image" Target="/ppt/media/image6.jpeg" Id="Ra384480d3ff344cf" /><Relationship Type="http://schemas.openxmlformats.org/officeDocument/2006/relationships/notesSlide" Target="/ppt/notesSlides/notesSlide13.xml" Id="R486f7de48e494b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e11ecede3443e" /><Relationship Type="http://schemas.openxmlformats.org/officeDocument/2006/relationships/notesSlide" Target="/ppt/notesSlides/notesSlide14.xml" Id="R1c6a518efb2445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8d3498a204fd5" /><Relationship Type="http://schemas.openxmlformats.org/officeDocument/2006/relationships/notesSlide" Target="/ppt/notesSlides/notesSlide15.xml" Id="Rda2c04eff14f4e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5ce6be33c43e1" /><Relationship Type="http://schemas.openxmlformats.org/officeDocument/2006/relationships/notesSlide" Target="/ppt/notesSlides/notesSlide16.xml" Id="R71dda722f26f4a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2B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A88AB-BF26-48EC-98D3-85A08B3B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7BBA8-380A-40BB-837D-8FAD3702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B4E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814FF-F623-463E-9D26-C9912A1D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A706F-CEFE-4F0B-9B1B-F1CFF9BA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BDE6F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BDE6FA"/>
                </a:solidFill>
                <a:latin typeface="Arial"/>
                <a:ea typeface="Arial"/>
                <a:cs typeface="Arial"/>
              </a:rPr>
              <a:t>AI Knowledge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DCEEA-DF08-46FC-8C00-5013DC70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document based assistant with citations and access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7575F-D294-4149-BCF2-54473D0C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DE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DE7"/>
                </a:solidFill>
                <a:latin typeface="Arial"/>
                <a:ea typeface="Arial"/>
                <a:cs typeface="Arial"/>
              </a:rPr>
              <a:t>Capstone presentation  ·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906782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BB0CC-8BFE-498D-8B2B-34643612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11D81-62C9-4128-89EA-DFBF736F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B5A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F35FC-B35E-4085-A9E1-0A5C6EFD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ADAB1-749B-45E3-AEF0-E6B8D40C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8B4F8-A938-445B-A504-E5AC0C0B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9549D-FB01-480F-BD3E-96D843EA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Finding the right answer should not depend on knowing the right file name.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F6E06-3881-4CE6-A0F7-976D4568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B4E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78AA3-A505-418C-9C5E-6DF34C5F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3C545-BBDB-41F7-AD29-4A9A2D84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309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52E45-86E3-4456-90D0-A317DF28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3095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Policies, SOPs and runbooks are spread across files and teams.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458D8-1B65-481A-B9DE-3472B938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623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30CDF-7D44-4363-8705-E66AE5A5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90975"/>
            <a:ext cx="309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The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9F2B7-D4E6-467E-BCB5-1057E50D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10075"/>
            <a:ext cx="3095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Answer questions from approved passages and show the source.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0D397-915D-427F-A0C2-FFCABA57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47BA8-3CAC-4F6F-A169-217813FE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90975"/>
            <a:ext cx="309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The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7FA5B-19D9-4830-8E60-652488BD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10075"/>
            <a:ext cx="3095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Check each user’s scope before a passage can support an answer.</a:t>
            </a:r>
          </a:p>
        </p:txBody>
      </p:sp>
    </p:spTree>
    <p:extLst>
      <p:ext uri="{BB962C8B-B14F-4D97-AF65-F5344CB8AC3E}">
        <p14:creationId xmlns:p14="http://schemas.microsoft.com/office/powerpoint/2010/main" val="945428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65E4F-ED83-4672-BF72-79542034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A1940-CA31-4C19-9823-1396E54E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B5A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D3DE7-2CFC-4725-8D1C-F74E9E03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18426-336C-4EBC-99F9-2CFE40B1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The product at a glance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149A8-28F8-45C5-81B2-1A2D1D6F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59002-EF0B-4CEA-886A-F0D9C9E8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429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One place to ask, verify and manage knowledge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2CD07-2BF1-4EEC-8E90-97186291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A34ED-B2A2-479A-9F15-857B7444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Employees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F7ECD-77DC-48A7-9E7B-B8E0523E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Ask a question and open the cited source.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56F78-2859-4863-AC21-9529EBD6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B9F45-E682-4F66-AC0C-5431004C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Administrators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34230-C241-4291-95F3-1BFF8219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Add documents and review usage signals.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451f742654a76"/>
          <a:stretch xmlns:a="http://schemas.openxmlformats.org/drawingml/2006/main"/>
        </p:blipFill>
        <p:spPr>
          <a:xfrm xmlns:a="http://schemas.openxmlformats.org/drawingml/2006/main">
            <a:off x="5000625" y="1796568"/>
            <a:ext cx="6572250" cy="371253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75C72-427A-4139-BB46-DD528C38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676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A9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A91"/>
                </a:solidFill>
                <a:latin typeface="Arial"/>
                <a:ea typeface="Arial"/>
                <a:cs typeface="Arial"/>
              </a:rPr>
              <a:t>Assistant home page</a:t>
            </a:r>
          </a:p>
        </p:txBody>
      </p:sp>
    </p:spTree>
    <p:extLst>
      <p:ext uri="{BB962C8B-B14F-4D97-AF65-F5344CB8AC3E}">
        <p14:creationId xmlns:p14="http://schemas.microsoft.com/office/powerpoint/2010/main" val="1110231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634BC0-01B8-4A7E-A43A-D103D307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E8C27-A5B2-476C-915F-FABDFD8C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B5A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132CA-E995-4971-9025-73EB07F5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FBAB2-30CD-48BB-A0C6-F5D1E5B4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How the system is connected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F993A-EFDE-46BD-B000-C6372258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3E0B0-B261-4705-AEE5-1DE3825C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28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FDA43-FC3D-4E8E-91B5-650E0601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24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Browser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9FC12-6201-495B-B609-124AE8AD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33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static/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5ADEF-FDFE-4855-AC0C-E55855BF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38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Question, login and citations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45D94-AD99-47E5-8858-4D594FB4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7336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31996-96DC-42F2-944C-EF542181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62200"/>
            <a:ext cx="228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9525">
            <a:solidFill>
              <a:srgbClr val="062B5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0E571-3D7A-4202-BC75-FAC7CFC0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24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FB13F-EAA8-43DA-BD30-55B5B7DF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33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DE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DE6FA"/>
                </a:solidFill>
                <a:latin typeface="Arial"/>
                <a:ea typeface="Arial"/>
                <a:cs typeface="Arial"/>
              </a:rPr>
              <a:t>app.py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F9129-1C0C-44B2-BBCF-0EAD5A4F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38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Session, route and 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CDC6B-E6BD-4254-B1EF-AB9BC3B5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336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F6818-691A-4416-99B0-BB296DDD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228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12FF4-DAF4-4575-81F7-6A218F41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524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Knowledge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E87B5-6F74-40EC-8C57-6CE971DD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33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knowledge.py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E8C0F-8BC2-42F4-9AD4-283304C0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38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Search, access and analytics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8EC1C-699F-4242-A7A3-2FAE12D7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7336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D30C5-6D9A-4069-9AD7-45DCC3F4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62200"/>
            <a:ext cx="2286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2DE5D-80A9-48A3-A90E-C4838B37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24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Document store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C05CE1-B79C-4610-9CCF-3393898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33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SQLite + FTS5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6F6D3C-4F15-4869-ABA4-5FC38159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38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Documents, chunks and logs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53220F-9B06-40AF-9450-38029BF9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19575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B4E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DDB014-6C08-4F91-9DA2-CE505025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148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HR question → MCP tool in mcp_server.py → permission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10726A-D88A-43F0-97AD-DC99569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Optional Gemini writes from permitted passages; the local extractive path also works.</a:t>
            </a:r>
          </a:p>
        </p:txBody>
      </p:sp>
    </p:spTree>
    <p:extLst>
      <p:ext uri="{BB962C8B-B14F-4D97-AF65-F5344CB8AC3E}">
        <p14:creationId xmlns:p14="http://schemas.microsoft.com/office/powerpoint/2010/main" val="16919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F1AF2-DF8F-415C-B3DF-B8F1720B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AF26E-3808-4EE9-9FE9-0192BF13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B5A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C8E82-236F-4D64-91DD-0B99A64A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5F2C0-6DE1-4E9C-8F77-2A2704F0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Document ingestion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4CA00-7087-4B41-91D8-8C3454EB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CD47D-3F7B-4E8B-A840-66614B20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An administrator uploads a file and describes who may use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D0E46-7577-4E48-B1EE-7F337203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104A6-217F-4192-B335-959DD927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193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9F882-198F-4CB7-98A6-272B3D21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19375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TXT, MD, DOCX or PDF; size and duplicate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2D0AC-7958-4E77-868E-48884C52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7CF78-2591-4B6C-95C6-BD589E8F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8A35D-4A49-4747-851D-718E2B48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290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08FC0-B722-4326-B51B-995D16C9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2900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Read text, sections and document 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2F2A3-E7E8-4957-BF78-9D42AD06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C38D7-5694-43C4-B395-83E8EC23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F5CC3-30B9-4BDF-B14A-4D68DA96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386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E48F7-2090-488F-8F0C-13A5048C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38625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Split long text into searchable passages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5BEBE-2ECD-4AB6-8331-B438F8E0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B7872-6B26-41F9-A5F8-F950C73B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34CAC-3127-49B1-9E92-4542E5AE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482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4470B-C919-4390-959D-101D7C0A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4825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Store passages in SQLite and FTS5</a:t>
            </a:r>
          </a:p>
        </p:txBody>
      </p:sp>
    </p:spTree>
    <p:extLst>
      <p:ext uri="{BB962C8B-B14F-4D97-AF65-F5344CB8AC3E}">
        <p14:creationId xmlns:p14="http://schemas.microsoft.com/office/powerpoint/2010/main" val="21383156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184C17-9370-453E-84E2-3B3A67CE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0E479-3AB5-42F1-A352-A99211FE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B5A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28C32-6F93-4178-9D39-1E52CA7D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4A580-7E04-4F91-9F59-2D06513A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Question to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E5D88-A79C-4F04-B9CF-E2E00916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C6128-BEBB-4527-B60C-83BB828E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543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4CD62-B03B-44BA-AF18-762100BB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F7FA4-FA6B-43BB-B475-DE9957B4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381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BDF56-D3FA-4098-937A-49418979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Employee 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91B11-15C2-4AA7-8229-F672D1D5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146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69377-082B-4B89-B76F-64836D54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00300"/>
            <a:ext cx="1543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AFD2F-9B87-4013-8F4D-FE0CDA55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241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66A06-A1C0-431D-BFCA-C9D3030B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71775"/>
            <a:ext cx="1381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00326-324A-4228-B814-607FADE6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432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HR uses MCP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60AB3-9B6C-48AD-A699-E8F17A58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146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A7F13-BE0C-4C88-BDF4-5B7FDF97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1543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B39D1-99CB-4A38-BA07-F1145AC4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241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E153F-0245-4D21-810D-60708001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71775"/>
            <a:ext cx="1381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D8633-05A5-4F38-9FC5-46D23B43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432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Find passages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632A7-43F7-48E5-A271-261CF02C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146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A12C74-3FCD-450D-B29F-FCC68227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543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5A719-3652-491A-A026-8250E638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241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15F68-4C60-4DE9-94EB-2E1172C6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71775"/>
            <a:ext cx="1381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3FF364-0A03-48BF-9A48-DDBF60D4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Check access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4911A-915D-4192-9DDF-F6A10F63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146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FD2D64-6A66-4BD2-9190-2E5BFBE0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1543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9525">
            <a:solidFill>
              <a:srgbClr val="062B5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6E6300-BA00-4472-8F28-F001A64D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E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E6F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B85633-0EDC-4B71-A487-3A026510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71775"/>
            <a:ext cx="1381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759431-CA64-4CA4-9958-F84D139A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Enough evidence?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E33AF0-584A-40AF-8630-1915084E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146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BA205A-9A96-43B3-8AEB-97C23A3D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1543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BCD623-132A-47C6-BB2D-1F424251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2412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69AF0A-128D-439E-BED6-6E9DEACB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71775"/>
            <a:ext cx="1381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062197-3ABE-4760-AD3C-C4F49C89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432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Cite the source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26774A-CC04-472C-AF3B-6160DE94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If the passages support the question, the app returns a cited answer.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208485-9C38-4486-A3F9-EF2C806C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If they do not, it returns a clear no-answer result and records the gap.</a:t>
            </a:r>
          </a:p>
        </p:txBody>
      </p:sp>
    </p:spTree>
    <p:extLst>
      <p:ext uri="{BB962C8B-B14F-4D97-AF65-F5344CB8AC3E}">
        <p14:creationId xmlns:p14="http://schemas.microsoft.com/office/powerpoint/2010/main" val="10931472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F9595-9633-4AF4-9D55-13B20040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36615-9FB2-4F13-9677-BE068849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B5A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0C8F2-E631-4230-B58A-D9BBC749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2EC5D-464B-4684-A2EF-7B2AB752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Access control in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FA70C-5B7F-42BB-8486-CEB4A2E0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985AC-EF84-4381-9449-970894A1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495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Same HR question. Different access.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6B003-18A7-4BFF-88E3-D6AAD85C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714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A5EE8-372E-4FD3-8FBD-04C116F7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048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Can receive a cited leave policy passage.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A7722-2209-4C5A-8A35-2BED1EFB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714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Delivery employee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253FF-6891-42FD-998E-896BF616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48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Receives no HR passage or HR citation.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749887f8d422b"/>
          <a:stretch xmlns:a="http://schemas.openxmlformats.org/drawingml/2006/main"/>
        </p:blipFill>
        <p:spPr>
          <a:xfrm xmlns:a="http://schemas.openxmlformats.org/drawingml/2006/main">
            <a:off x="5048250" y="1866242"/>
            <a:ext cx="6524625" cy="368749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D88AF-61AF-4E2E-8A2F-03502409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648325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A9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A91"/>
                </a:solidFill>
                <a:latin typeface="Arial"/>
                <a:ea typeface="Arial"/>
                <a:cs typeface="Arial"/>
              </a:rPr>
              <a:t>Delivery employee response to an HR question</a:t>
            </a:r>
          </a:p>
        </p:txBody>
      </p:sp>
    </p:spTree>
    <p:extLst>
      <p:ext uri="{BB962C8B-B14F-4D97-AF65-F5344CB8AC3E}">
        <p14:creationId xmlns:p14="http://schemas.microsoft.com/office/powerpoint/2010/main" val="1634967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04DC4E-8860-431B-B805-B0F1683B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450BE-A66D-4C59-AD91-4F0CBA09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B5A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6AA48-69DC-4954-A9AE-DE64C8FC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12A17-25BB-412F-8834-9A58D6F8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Technology by component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E06C0-BB7A-4105-85BB-3EBD6FFA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60A5A-A422-4C72-AFD5-0EB23112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PART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AA1FD-816A-45A6-BC4B-2465E389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47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FILE / TECHNOLOGY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23491-8086-4E3D-83F8-06D02AC7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47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DFE36-D86F-4555-AC6E-3E230A9D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C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66399-B0CC-4CC3-ACE0-D3D7BCC6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351FD-40B9-49C6-94FB-C9E2CD26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00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static/index.html, style.css, app.js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231DF-8DD6-4FB4-A866-0B13C01B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003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Forms, navigation, answers and dashboards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C8144-5F81-4466-9C9D-43B0F42A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CEA67-9F8C-4D22-B1C8-57687F2A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56536-C877-495D-AB96-BFD1304E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432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app.py · Python HTTP server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4A6E0-B42E-4BCE-AD1E-0B4D371F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432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Login, API routes, query flow and sessions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338E1-E226-45E8-954F-CE87BE12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23E14-F88A-4BE8-B760-1C21641A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BAAAC-3A9B-49D4-A821-D33D6452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862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knowledge.py · SQLite FTS5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382655-DD56-48DA-9C34-6BF1580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862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Upload, chunks, search, access and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ABD89-E7D8-48CF-9E2A-217CAF35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C7937-1EE4-4703-890C-0C819D5A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Connector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231F0-BE99-477B-8DB0-AC518D8A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291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mcp_server.py · JSON-RPC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185D63-6400-4F39-A728-8251C244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291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Read-only HR search route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F1BF7-6136-4B93-A093-7D6CD028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1EA337-2792-4D8B-980F-9F88C336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Answering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92DFE0-3333-4D2C-AD15-118AF79F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3721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Gemini API or local extraction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FD9E12-2908-441F-9B4B-6E4FD9AA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3721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Writes a short response from permitted passages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7A18FA-B0FE-495F-978F-851E5BB6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</p:spTree>
    <p:extLst>
      <p:ext uri="{BB962C8B-B14F-4D97-AF65-F5344CB8AC3E}">
        <p14:creationId xmlns:p14="http://schemas.microsoft.com/office/powerpoint/2010/main" val="916909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0B627-2248-450F-8FDA-5B5BCA8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7A8F2-8865-4C68-A876-CB158EF2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B5A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F03D9-4E92-4519-9964-9C58A408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5DEAC-0C86-4C21-B5D5-D53B3B4F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Code spotlight: routing and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FC3AF-1E83-4CDD-B3EC-FFDA790A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07D93-EE56-46E3-8223-38CF25CD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The API chooses the search route, then checks connector results again.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7CE05-432E-453B-A15E-748BE371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537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B"/>
          </a:solidFill>
          <a:ln xmlns:a="http://schemas.openxmlformats.org/drawingml/2006/main" w="9525">
            <a:solidFill>
              <a:srgbClr val="071D3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99737-DAB1-4604-811C-99B23F61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1038225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= k.classify_query(question, requested_department)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 = "MCP curated knowledge" if department == "HR" else "Local hybrid index"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# After the MCP call returns: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matches = [s for s in matches if k.can_access(user, s)]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92272-0BDC-42D1-9BD9-AC849FDA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app.py  ·  HR questions take the MCP route; returned passages still pass the app’s access check.</a:t>
            </a:r>
          </a:p>
        </p:txBody>
      </p:sp>
    </p:spTree>
    <p:extLst>
      <p:ext uri="{BB962C8B-B14F-4D97-AF65-F5344CB8AC3E}">
        <p14:creationId xmlns:p14="http://schemas.microsoft.com/office/powerpoint/2010/main" val="688623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4AFA9-D74F-41A5-98CA-D4F86A1E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ADE9D-0DD7-4D75-AD3C-6CC39F46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B5A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D672E-8E43-44E4-AFE4-FA48708F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E0F8E-BCDB-4374-A9A5-070497CB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How an administrator adds knowledge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B6EB9-BAAC-45FF-BEB9-6318727C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8616F-FBA2-4ACE-975F-9106C0D5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12254-FEF5-4A77-9B7C-31BEB1C6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7F611-D18F-4622-BCB1-F43E6660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Use the Administrator demo account.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F80FB-F0E0-4CD1-84E7-ADF5F2E6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79DCE-1676-4F6A-8F2C-C110EA71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Open the library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73C38-B46F-460A-B1F5-EE96B7F7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Choose Add document.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44E94-A7A3-4ECD-8897-6AD1613D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21E3E-8648-438F-A809-5CEB24CD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Describe the 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68235-3687-4CC0-A8FF-73316DCC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Set title, owner, department, classification and dates.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b120f0da64b1e"/>
          <a:stretch xmlns:a="http://schemas.openxmlformats.org/drawingml/2006/main"/>
        </p:blipFill>
        <p:spPr>
          <a:xfrm xmlns:a="http://schemas.openxmlformats.org/drawingml/2006/main">
            <a:off x="4857750" y="1826698"/>
            <a:ext cx="6715125" cy="379515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732BE-A3C5-4A63-BE5A-CAD3B9EC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43575"/>
            <a:ext cx="623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A9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A91"/>
                </a:solidFill>
                <a:latin typeface="Arial"/>
                <a:ea typeface="Arial"/>
                <a:cs typeface="Arial"/>
              </a:rPr>
              <a:t>Document upload form</a:t>
            </a:r>
          </a:p>
        </p:txBody>
      </p:sp>
    </p:spTree>
    <p:extLst>
      <p:ext uri="{BB962C8B-B14F-4D97-AF65-F5344CB8AC3E}">
        <p14:creationId xmlns:p14="http://schemas.microsoft.com/office/powerpoint/2010/main" val="17544214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B1657-707D-46C9-95DF-0F23424F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76DFB-346D-4684-B745-3FE559B8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B5A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14ED5-5217-4C76-BE47-357C1F29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5FD46-6B1F-43A0-82E3-400FC5F5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How an employee asks a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AC91C-016F-4A98-BC67-2B3A175D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045E3-64C9-403B-8171-087A0F81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2576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“What is the annual leave request process?”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BAADF-F9F7-45A6-AFE7-72C9B0CF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1  Enter the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1D0DB-7B5A-43A4-88BB-098DF885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2  Read the cited answer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5216C-49B4-4848-AC97-2B003C14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3  Open source [1]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7D57A-8952-433A-9297-3880EF39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4  Rate the response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06ab224b6435b"/>
          <a:stretch xmlns:a="http://schemas.openxmlformats.org/drawingml/2006/main"/>
        </p:blipFill>
        <p:spPr>
          <a:xfrm xmlns:a="http://schemas.openxmlformats.org/drawingml/2006/main">
            <a:off x="4857750" y="1821935"/>
            <a:ext cx="6715125" cy="379515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B5A8E-7FDD-4613-8211-002BDE43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435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A9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A91"/>
                </a:solidFill>
                <a:latin typeface="Arial"/>
                <a:ea typeface="Arial"/>
                <a:cs typeface="Arial"/>
              </a:rPr>
              <a:t>Answer with numbered source citation</a:t>
            </a:r>
          </a:p>
        </p:txBody>
      </p:sp>
    </p:spTree>
    <p:extLst>
      <p:ext uri="{BB962C8B-B14F-4D97-AF65-F5344CB8AC3E}">
        <p14:creationId xmlns:p14="http://schemas.microsoft.com/office/powerpoint/2010/main" val="7719576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E1F08-B89F-4CD0-A80A-EAA72CDD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A102A-E991-423A-AD33-7EF3321B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B5A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D9B8B-6FAF-478A-A166-82A3278F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59714-F607-4345-A2DD-B63F7ADA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What a citation lets you verify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DDEDB-D63F-4394-BB28-1CCF8323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D25A4-3A3B-4606-B8EE-2000AD2B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4238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The source opens beside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65543-5379-4352-AD9E-33A9EB1E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Policy lookup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CFC59-14A7-480B-AC11-27FBCF3A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Check the exact passage before acting.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68E44-B0CA-4072-96AF-D4D28117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Operational runbooks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BE9AF-EE3A-4B6A-A19F-D22DAB43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Find the section relevant to an incident.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65DB8-CF18-4872-837F-24248E92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Document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F34C4-0E7F-4639-A501-A002B6BA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See owner, department, dates and classification.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650b466014684"/>
          <a:stretch xmlns:a="http://schemas.openxmlformats.org/drawingml/2006/main"/>
        </p:blipFill>
        <p:spPr>
          <a:xfrm xmlns:a="http://schemas.openxmlformats.org/drawingml/2006/main">
            <a:off x="4857750" y="1821935"/>
            <a:ext cx="6715125" cy="379515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90C46-9167-40BA-9090-1EC441C8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435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A9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A91"/>
                </a:solidFill>
                <a:latin typeface="Arial"/>
                <a:ea typeface="Arial"/>
                <a:cs typeface="Arial"/>
              </a:rPr>
              <a:t>Source preview with passage and metadata</a:t>
            </a:r>
          </a:p>
        </p:txBody>
      </p:sp>
    </p:spTree>
    <p:extLst>
      <p:ext uri="{BB962C8B-B14F-4D97-AF65-F5344CB8AC3E}">
        <p14:creationId xmlns:p14="http://schemas.microsoft.com/office/powerpoint/2010/main" val="16077704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529AB-C804-4491-AE4B-6E80B6D2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0F971-B84C-4A8B-8B49-9DAF34C2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B5A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97F78-F5E1-4D68-AEE4-4B8D1568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64AFE-BDC2-40DC-B10E-F5DC55B7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Quality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4F97F-344B-47F4-9092-EFF0B4FD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5B8C4-CE4E-4216-A196-8B573AB2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Where people ask — and where the knowledge bank needs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22CCB-9D96-4BEB-B194-8853A267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Questions and routes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B5BF4-722D-4AB6-B157-8297B38B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See which searches used MCP or local retrieval.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89666-EE8B-4895-849C-8F99F3CB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Citations and no-answer 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8FB5A-007B-4B9F-9EB0-4C209B41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Find questions that lacked enough source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9D18A-3976-4972-865F-E9DFCFFC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Feedback and connector events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4480d3ff344cf"/>
          <a:stretch xmlns:a="http://schemas.openxmlformats.org/drawingml/2006/main"/>
        </p:blipFill>
        <p:spPr>
          <a:xfrm xmlns:a="http://schemas.openxmlformats.org/drawingml/2006/main">
            <a:off x="5139552" y="2409825"/>
            <a:ext cx="6151520" cy="34766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2D898-35DF-42BA-93D5-B1827F1B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53125"/>
            <a:ext cx="633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A9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A91"/>
                </a:solidFill>
                <a:latin typeface="Arial"/>
                <a:ea typeface="Arial"/>
                <a:cs typeface="Arial"/>
              </a:rPr>
              <a:t>Question, citation and retrieval activity</a:t>
            </a:r>
          </a:p>
        </p:txBody>
      </p:sp>
    </p:spTree>
    <p:extLst>
      <p:ext uri="{BB962C8B-B14F-4D97-AF65-F5344CB8AC3E}">
        <p14:creationId xmlns:p14="http://schemas.microsoft.com/office/powerpoint/2010/main" val="19731683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20EFB-098B-43BA-9CEE-98C15925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5F730-C261-468C-8FD2-C756213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B5A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064F6-19E9-41CC-AC8F-570BFDEB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30964-7143-4A87-8871-3497D88E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Deployment and next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172B3-9F1A-4CD6-BE16-206282D7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F2497-54CF-4FFC-8847-836AA9BA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Live review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1E124-9511-4F0D-8C12-86A9C87B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infosys-enterprise-gpt-demo.onrender.com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D0437-DEE8-4546-82FC-0010A759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B4E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1300B-AEE5-4F78-9EB7-A7776BA5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DC7CE-08A8-4A24-8149-266AFDB0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Current deployment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FBA78-AA25-4AE0-B8DA-4CCC6068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Render Free runs the Python app with server-side environment variables.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B5C1D-BE64-4317-BA12-DD1028AF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B27B4-D907-4FC6-B0A3-B60C977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909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Before enterprise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A6494-0E1C-495F-88CE-2FE09FB6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0075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Add company sign-in, durable storage, approved connectors and deeper evaluation.</a:t>
            </a:r>
          </a:p>
        </p:txBody>
      </p:sp>
    </p:spTree>
    <p:extLst>
      <p:ext uri="{BB962C8B-B14F-4D97-AF65-F5344CB8AC3E}">
        <p14:creationId xmlns:p14="http://schemas.microsoft.com/office/powerpoint/2010/main" val="15450242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0502E8-A149-4198-9BE7-24D3F9A9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3B37E-627C-4525-956D-23AAA896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B5A"/>
                </a:solidFill>
                <a:latin typeface="Arial"/>
                <a:ea typeface="Arial"/>
                <a:cs typeface="Arial"/>
              </a:rPr>
              <a:t>ENTERPRISE GPT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1EBD6-1BC5-4145-AE56-855A47C4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2D173-71FE-41FC-897E-3E3312EE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Five-minute product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53913-3103-493B-B87D-FCA71647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47387-1995-49B8-A0A3-FBFF3A7F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6434A-C9A5-4205-A121-757AE827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0975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Sign in as Administrator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E6DCA-CEA9-4026-8620-3718E6C3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09750"/>
            <a:ext cx="547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Ask the annual leave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33375-0B10-4128-9E36-BA24E521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1BEF0-2E0B-47DF-96A4-64C7F59C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BFBBA-EBE5-4EA5-92C8-93D2CDF0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4795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Open citation [1]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6A2E3-8F9F-4754-804C-C7D54791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47950"/>
            <a:ext cx="547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Show the source passage and metadata.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D9CCA-5CDD-4221-A290-D0AD98C4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48AAB-31AE-415C-8EFB-1B1B1F9C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810D1-51CA-4C3E-91A5-21DC268B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615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Visit Knowledge library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248B5-26C4-4387-8708-76921EEA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86150"/>
            <a:ext cx="547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Show upload fields and seeded documents.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ED6CB-DC85-475F-B006-DEE1B93E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33098-2A58-4093-8E5D-6B137BB3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70201-210B-48C2-A68C-D162CB3A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2435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Open Quality analytics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1076F-A4ED-4091-BE0B-2C256D6E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24350"/>
            <a:ext cx="547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Point out routes, citations and no-answer activity.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4A6940-84CF-4D86-8D9F-7CE44A4F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8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14571-2ABE-4171-963C-82440061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7CC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CC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539A4-77D0-46B3-94A3-76C5DA75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6255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2B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62B54"/>
                </a:solidFill>
                <a:latin typeface="Arial"/>
                <a:ea typeface="Arial"/>
                <a:cs typeface="Arial"/>
              </a:rPr>
              <a:t>Switch to Delivery employee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B60D6-A0FD-43E0-9874-43E5BBCD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62550"/>
            <a:ext cx="547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B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B5A"/>
                </a:solidFill>
                <a:latin typeface="Arial"/>
                <a:ea typeface="Arial"/>
                <a:cs typeface="Arial"/>
              </a:rPr>
              <a:t>Ask the same HR question and compare the result.</a:t>
            </a:r>
          </a:p>
        </p:txBody>
      </p:sp>
    </p:spTree>
    <p:extLst>
      <p:ext uri="{BB962C8B-B14F-4D97-AF65-F5344CB8AC3E}">
        <p14:creationId xmlns:p14="http://schemas.microsoft.com/office/powerpoint/2010/main" val="5204112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2B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DC027-C43C-4F73-8954-77CAC187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Infosys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BD5D3-DD68-4DAE-9D6C-F9BF1541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B4E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596F8-ED17-4224-915A-C2F55B98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EB5FE-1535-44A9-977F-48F4833C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DE6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DE6FA"/>
                </a:solidFill>
                <a:latin typeface="Arial"/>
                <a:ea typeface="Arial"/>
                <a:cs typeface="Arial"/>
              </a:rPr>
              <a:t>Project makers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C7B2C-627A-46CF-9634-4BDBD079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48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 [Name 1]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E9679-9EAE-4011-AE51-C9502CE3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48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 [Name 2]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79DDD-71FF-4AB1-A0CE-FBC9EDA3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100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 [Name 3]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88408-A539-4C77-A270-9039B522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00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 [Name 4]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E7359-8F99-4E9D-A6E1-DD96D8C6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720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   [Name 5]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F3CBC-22E1-4F79-B41D-80F05E54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   [Name 6]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7DD0B-49BA-4261-BCA7-6CF40D6F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339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   [Name 7]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B4148-9026-4DBF-80C5-41119102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339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08   [Name 8]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A2A0E-73D4-4B2E-944E-269DC632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CD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CDE7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1303220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2026-09-28T15:27:13.5140000Z</dcterms:created>
  <dcterms:modified xsi:type="dcterms:W3CDTF">2026-09-28T15:27:13.5150000Z</dcterms:modified>
</coreProperties>
</file>