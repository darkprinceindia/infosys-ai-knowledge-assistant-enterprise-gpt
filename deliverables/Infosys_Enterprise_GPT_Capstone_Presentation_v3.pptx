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fc93000c5e4221" /><Relationship Type="http://schemas.openxmlformats.org/officeDocument/2006/relationships/extended-properties" Target="/docProps/app.xml" Id="R5ffe0c0e495b4fd5" /><Relationship Type="http://schemas.openxmlformats.org/officeDocument/2006/relationships/officeDocument" Target="/ppt/presentation.xml" Id="Rf3e11fa64cc14c64" /></Relationships>
</file>

<file path=ppt/presentation.xml><?xml version="1.0" encoding="utf-8"?>
<p:presentation xmlns:p="http://schemas.openxmlformats.org/presentationml/2006/main">
  <p:sldMasterIdLst>
    <p:sldMasterId xmlns:r="http://schemas.openxmlformats.org/officeDocument/2006/relationships" id="2147483648" r:id="Rc92ba542fd9e449e"/>
  </p:sldMasterIdLst>
  <p:notesMasterIdLst>
    <p:notesMasterId xmlns:r="http://schemas.openxmlformats.org/officeDocument/2006/relationships" r:id="R6b4e2b21177a488f"/>
  </p:notesMasterIdLst>
  <p:sldIdLst>
    <p:sldId xmlns:r="http://schemas.openxmlformats.org/officeDocument/2006/relationships" id="256" r:id="Rd7d9010b8a3249c7"/>
    <p:sldId xmlns:r="http://schemas.openxmlformats.org/officeDocument/2006/relationships" id="257" r:id="R141d339690504609"/>
    <p:sldId xmlns:r="http://schemas.openxmlformats.org/officeDocument/2006/relationships" id="258" r:id="R0c1f17ef01814325"/>
    <p:sldId xmlns:r="http://schemas.openxmlformats.org/officeDocument/2006/relationships" id="259" r:id="Rcc96613c163a4d00"/>
    <p:sldId xmlns:r="http://schemas.openxmlformats.org/officeDocument/2006/relationships" id="260" r:id="R1fbe37d2565f4235"/>
    <p:sldId xmlns:r="http://schemas.openxmlformats.org/officeDocument/2006/relationships" id="261" r:id="R035420e61f294a90"/>
    <p:sldId xmlns:r="http://schemas.openxmlformats.org/officeDocument/2006/relationships" id="262" r:id="Re6aa7bb86a914318"/>
    <p:sldId xmlns:r="http://schemas.openxmlformats.org/officeDocument/2006/relationships" id="263" r:id="R57666c9b89b640dc"/>
    <p:sldId xmlns:r="http://schemas.openxmlformats.org/officeDocument/2006/relationships" id="264" r:id="Rb1b167b738eb43db"/>
    <p:sldId xmlns:r="http://schemas.openxmlformats.org/officeDocument/2006/relationships" id="265" r:id="Rdbdae29d39fa4ebd"/>
    <p:sldId xmlns:r="http://schemas.openxmlformats.org/officeDocument/2006/relationships" id="266" r:id="R2e3d62e2f9394576"/>
    <p:sldId xmlns:r="http://schemas.openxmlformats.org/officeDocument/2006/relationships" id="267" r:id="R1f3608212e444e73"/>
    <p:sldId xmlns:r="http://schemas.openxmlformats.org/officeDocument/2006/relationships" id="268" r:id="Rbfeaf719d5e74f65"/>
    <p:sldId xmlns:r="http://schemas.openxmlformats.org/officeDocument/2006/relationships" id="269" r:id="R08d6e255ef5e46ea"/>
    <p:sldId xmlns:r="http://schemas.openxmlformats.org/officeDocument/2006/relationships" id="270" r:id="R435296b1a92c40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2a8a1d901d4b19" /><Relationship Type="http://schemas.openxmlformats.org/officeDocument/2006/relationships/slideMaster" Target="/ppt/slideMasters/slideMaster1.xml" Id="Rc92ba542fd9e449e" /><Relationship Type="http://schemas.openxmlformats.org/officeDocument/2006/relationships/notesMaster" Target="/ppt/notesMasters/notesMaster1.xml" Id="R6b4e2b21177a488f" /><Relationship Type="http://schemas.openxmlformats.org/officeDocument/2006/relationships/presProps" Target="/ppt/presProps.xml" Id="R1277b4d7bf3f4a86" /><Relationship Type="http://schemas.openxmlformats.org/officeDocument/2006/relationships/tableStyles" Target="/ppt/tableStyles.xml" Id="Rc6fcd5765d1b4b52" /><Relationship Type="http://schemas.openxmlformats.org/officeDocument/2006/relationships/slide" Target="/ppt/slides/slide1.xml" Id="Rd7d9010b8a3249c7" /><Relationship Type="http://schemas.openxmlformats.org/officeDocument/2006/relationships/slide" Target="/ppt/slides/slide2.xml" Id="R141d339690504609" /><Relationship Type="http://schemas.openxmlformats.org/officeDocument/2006/relationships/slide" Target="/ppt/slides/slide3.xml" Id="R0c1f17ef01814325" /><Relationship Type="http://schemas.openxmlformats.org/officeDocument/2006/relationships/slide" Target="/ppt/slides/slide4.xml" Id="Rcc96613c163a4d00" /><Relationship Type="http://schemas.openxmlformats.org/officeDocument/2006/relationships/slide" Target="/ppt/slides/slide5.xml" Id="R1fbe37d2565f4235" /><Relationship Type="http://schemas.openxmlformats.org/officeDocument/2006/relationships/slide" Target="/ppt/slides/slide6.xml" Id="R035420e61f294a90" /><Relationship Type="http://schemas.openxmlformats.org/officeDocument/2006/relationships/slide" Target="/ppt/slides/slide7.xml" Id="Re6aa7bb86a914318" /><Relationship Type="http://schemas.openxmlformats.org/officeDocument/2006/relationships/slide" Target="/ppt/slides/slide8.xml" Id="R57666c9b89b640dc" /><Relationship Type="http://schemas.openxmlformats.org/officeDocument/2006/relationships/slide" Target="/ppt/slides/slide9.xml" Id="Rb1b167b738eb43db" /><Relationship Type="http://schemas.openxmlformats.org/officeDocument/2006/relationships/slide" Target="/ppt/slides/slide10.xml" Id="Rdbdae29d39fa4ebd" /><Relationship Type="http://schemas.openxmlformats.org/officeDocument/2006/relationships/slide" Target="/ppt/slides/slide11.xml" Id="R2e3d62e2f9394576" /><Relationship Type="http://schemas.openxmlformats.org/officeDocument/2006/relationships/slide" Target="/ppt/slides/slide12.xml" Id="R1f3608212e444e73" /><Relationship Type="http://schemas.openxmlformats.org/officeDocument/2006/relationships/slide" Target="/ppt/slides/slide13.xml" Id="Rbfeaf719d5e74f65" /><Relationship Type="http://schemas.openxmlformats.org/officeDocument/2006/relationships/slide" Target="/ppt/slides/slide14.xml" Id="R08d6e255ef5e46ea" /><Relationship Type="http://schemas.openxmlformats.org/officeDocument/2006/relationships/slide" Target="/ppt/slides/slide15.xml" Id="R435296b1a92c40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81382e6fb544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1958fe41f0497c" /><Relationship Type="http://schemas.openxmlformats.org/officeDocument/2006/relationships/notesMaster" Target="/ppt/notesMasters/notesMaster1.xml" Id="R3aa2ef65130448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3f593de83f4f8a" /><Relationship Type="http://schemas.openxmlformats.org/officeDocument/2006/relationships/notesMaster" Target="/ppt/notesMasters/notesMaster1.xml" Id="R319fb5ffeb6b4f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dc15643c9f4c8d" /><Relationship Type="http://schemas.openxmlformats.org/officeDocument/2006/relationships/notesMaster" Target="/ppt/notesMasters/notesMaster1.xml" Id="R31109f45d59440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7c137740484b22" /><Relationship Type="http://schemas.openxmlformats.org/officeDocument/2006/relationships/notesMaster" Target="/ppt/notesMasters/notesMaster1.xml" Id="R271f4bc61ab549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0f5e5e39cf4180" /><Relationship Type="http://schemas.openxmlformats.org/officeDocument/2006/relationships/notesMaster" Target="/ppt/notesMasters/notesMaster1.xml" Id="Rc58afee5fccb42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0fe1764eea41b9" /><Relationship Type="http://schemas.openxmlformats.org/officeDocument/2006/relationships/notesMaster" Target="/ppt/notesMasters/notesMaster1.xml" Id="R5298cc03fcde44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a1ab8c018a4e65" /><Relationship Type="http://schemas.openxmlformats.org/officeDocument/2006/relationships/notesMaster" Target="/ppt/notesMasters/notesMaster1.xml" Id="Ra94fa56a5b4a49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2658295a4042c3" /><Relationship Type="http://schemas.openxmlformats.org/officeDocument/2006/relationships/notesMaster" Target="/ppt/notesMasters/notesMaster1.xml" Id="R4be7db12e0a14e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fa28ca1a1f4362" /><Relationship Type="http://schemas.openxmlformats.org/officeDocument/2006/relationships/notesMaster" Target="/ppt/notesMasters/notesMaster1.xml" Id="R9f1c94b22af04c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0f2e5e436c4a59" /><Relationship Type="http://schemas.openxmlformats.org/officeDocument/2006/relationships/notesMaster" Target="/ppt/notesMasters/notesMaster1.xml" Id="R529e80aa6b7b45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d69688054e48f5" /><Relationship Type="http://schemas.openxmlformats.org/officeDocument/2006/relationships/notesMaster" Target="/ppt/notesMasters/notesMaster1.xml" Id="Ra42fe1b161df4e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80eb61ba604435" /><Relationship Type="http://schemas.openxmlformats.org/officeDocument/2006/relationships/notesMaster" Target="/ppt/notesMasters/notesMaster1.xml" Id="R52f7def2432242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3642e0332148f5" /><Relationship Type="http://schemas.openxmlformats.org/officeDocument/2006/relationships/notesMaster" Target="/ppt/notesMasters/notesMaster1.xml" Id="R9ba8877604044e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0b20b21e4c41e4" /><Relationship Type="http://schemas.openxmlformats.org/officeDocument/2006/relationships/notesMaster" Target="/ppt/notesMasters/notesMaster1.xml" Id="R131951997b4d47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c1653f185b4c20" /><Relationship Type="http://schemas.openxmlformats.org/officeDocument/2006/relationships/notesMaster" Target="/ppt/notesMasters/notesMaster1.xml" Id="Rb764b52ad59648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cover illustration generated for this deck; it is not a product screenshot. Source for project description: README.md and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Included documents are fictional project examples, not real Infosys policies or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static/index.html and product capture 01_assistant_home.png. The seeded accounts are demo identities; the image records the local demo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app.py answer_query and mcp_search; knowledge.py search. Diagram simplifies the return path. MCP is a read-only local stdio JSON-RPC server, not a live external HR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knowledge.py create_document, extract_document, split_sections and search. DOCX extraction uses XML; PDF parsing uses pypdf. Upload limit is 5 MB. Lexical vectors are hashed token features, not model 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app.py answer_query; knowledge.py classify_query, search, gemini_answer and extractive_answer. Threshold is a retrieval score and is not a calibrated probability of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app.py mcp_search and answer_query, knowledge.py can_access/search, product capture 10_employee_access_boundary.png. The screenshot shows a fresh HR query by a Delivery employee. These are prototype controls, not production security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and source files. PDF uploads need pypdf. Hashed lexical vectors are local token features rather than semantic model 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app.py lines in classify_query, route selection and mcp_search. The excerpt combines exact lines from the same file with a comment for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static/index.html, docs/demo_script.md and product capture 05_document_ingestion.png. The screenshot is from the local prototype, not a public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static/index.html, docs/demo_script.md and product capture 02_cited_hr_answer.png. The answer shown is from fictional sample HR material; retrieval signal is not calibrated answer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fictional data/sample_* documents, docs/demo_script.md and product capture 03_source_preview.png. These are illustrative use cases, not measured enterprise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tests/, docs/evaluation_queries.csv, knowledge.py analytics, product capture 07_quality_analytics.png. The captured metrics describe demo activity, not measured accuracy. Seven unit tests were rerun and passed in this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docs/deployment.md, docs/security_notes.md and the supplied local product captures. The repo contains render.yaml but public deployment has not been completed or verified. In the captured role switch sequence, the previous administrator answer remained in client state until a fresh employee query replaced it. The source preview also shows a metadata owner that differs from the owner named in the sample document text. These should be corrected before a final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each placeholder with the actual project maker name and, if desired, responsibility. No contributor names were available in the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38c6fe0aec4a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e2a381fef64934" /><Relationship Type="http://schemas.openxmlformats.org/officeDocument/2006/relationships/slideLayout" Target="/ppt/slideLayouts/slideLayout1.xml" Id="R9a0ef56956a342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0ef56956a342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568e2b4e664f62" /><Relationship Type="http://schemas.openxmlformats.org/officeDocument/2006/relationships/image" Target="/ppt/media/image.png" Id="R253ca2a73a90471a" /><Relationship Type="http://schemas.openxmlformats.org/officeDocument/2006/relationships/notesSlide" Target="/ppt/notesSlides/notesSlide1.xml" Id="R7db4b5abe4ac45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71f6bfa22d4de4" /><Relationship Type="http://schemas.openxmlformats.org/officeDocument/2006/relationships/notesSlide" Target="/ppt/notesSlides/notesSlide2.xml" Id="R76c9f3b4669843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fbad336c9d47cd" /><Relationship Type="http://schemas.openxmlformats.org/officeDocument/2006/relationships/image" Target="/ppt/media/image.jpeg" Id="R18838e44fc1d421c" /><Relationship Type="http://schemas.openxmlformats.org/officeDocument/2006/relationships/notesSlide" Target="/ppt/notesSlides/notesSlide3.xml" Id="R5f29368e26b249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eaad9debba4945" /><Relationship Type="http://schemas.openxmlformats.org/officeDocument/2006/relationships/notesSlide" Target="/ppt/notesSlides/notesSlide4.xml" Id="R0863381dc93e45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4922cd50b54b1c" /><Relationship Type="http://schemas.openxmlformats.org/officeDocument/2006/relationships/notesSlide" Target="/ppt/notesSlides/notesSlide5.xml" Id="Ra03fd94194974b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b0c9ac05f94392" /><Relationship Type="http://schemas.openxmlformats.org/officeDocument/2006/relationships/notesSlide" Target="/ppt/notesSlides/notesSlide6.xml" Id="R2160c79114f94c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aef1f8f1c14112" /><Relationship Type="http://schemas.openxmlformats.org/officeDocument/2006/relationships/image" Target="/ppt/media/image2.png" Id="R838a90850ce841a2" /><Relationship Type="http://schemas.openxmlformats.org/officeDocument/2006/relationships/notesSlide" Target="/ppt/notesSlides/notesSlide7.xml" Id="R653c5c40281949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62856ce53446dc" /><Relationship Type="http://schemas.openxmlformats.org/officeDocument/2006/relationships/notesSlide" Target="/ppt/notesSlides/notesSlide8.xml" Id="R9bb0cbda0d7242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43760b83f74258" /><Relationship Type="http://schemas.openxmlformats.org/officeDocument/2006/relationships/notesSlide" Target="/ppt/notesSlides/notesSlide9.xml" Id="Rff84fb85fe1840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215efb1c2e4f62" /><Relationship Type="http://schemas.openxmlformats.org/officeDocument/2006/relationships/image" Target="/ppt/media/image3.png" Id="R4acc7a5217274a77" /><Relationship Type="http://schemas.openxmlformats.org/officeDocument/2006/relationships/notesSlide" Target="/ppt/notesSlides/notesSlide10.xml" Id="R652cfb8014d447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17ef84f5af4772" /><Relationship Type="http://schemas.openxmlformats.org/officeDocument/2006/relationships/image" Target="/ppt/media/image4.png" Id="R71e04611201f4321" /><Relationship Type="http://schemas.openxmlformats.org/officeDocument/2006/relationships/notesSlide" Target="/ppt/notesSlides/notesSlide11.xml" Id="R947aa5c0fcea44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953e6bf6204374" /><Relationship Type="http://schemas.openxmlformats.org/officeDocument/2006/relationships/image" Target="/ppt/media/image5.png" Id="Rcd730060e32e4512" /><Relationship Type="http://schemas.openxmlformats.org/officeDocument/2006/relationships/notesSlide" Target="/ppt/notesSlides/notesSlide12.xml" Id="R666a0f8f607449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00efc430cc49e9" /><Relationship Type="http://schemas.openxmlformats.org/officeDocument/2006/relationships/image" Target="/ppt/media/image6.png" Id="Rbe0121bfcf2d43cf" /><Relationship Type="http://schemas.openxmlformats.org/officeDocument/2006/relationships/notesSlide" Target="/ppt/notesSlides/notesSlide13.xml" Id="R97f8b954fb2c4e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346ed7caae454c" /><Relationship Type="http://schemas.openxmlformats.org/officeDocument/2006/relationships/notesSlide" Target="/ppt/notesSlides/notesSlide14.xml" Id="R5deed3231a0946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4f6aa6c8434bc3" /><Relationship Type="http://schemas.openxmlformats.org/officeDocument/2006/relationships/notesSlide" Target="/ppt/notesSlides/notesSlide15.xml" Id="R440d7e194b0040e0" /></Relationships>
</file>

<file path=ppt/slides/slide1.xml><?xml version="1.0" encoding="utf-8"?>
<p:sld xmlns:p="http://schemas.openxmlformats.org/presentationml/2006/main">
  <p:cSld>
    <p:bg>
      <p:bgPr>
        <a:solidFill xmlns:a="http://schemas.openxmlformats.org/drawingml/2006/main">
          <a:srgbClr val="062B54"/>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53ca2a73a9047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6403FF-3F25-41B3-9C3F-46CD1AB9C439}"/>
              </a:ext>
            </a:extLst>
          </p:cNvPr>
          <p:cNvSpPr>
            <a:spLocks xmlns:a="http://schemas.openxmlformats.org/drawingml/2006/main" noGrp="1"/>
          </p:cNvSpPr>
          <p:nvPr/>
        </p:nvSpPr>
        <p:spPr>
          <a:xfrm xmlns:a="http://schemas.openxmlformats.org/drawingml/2006/main">
            <a:off x="590550" y="4572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Infosys</a:t>
            </a:r>
          </a:p>
        </p:txBody>
      </p:sp>
      <p:sp>
        <p:nvSpPr>
          <p:cNvPr id="3" name="">
            <a:extLst xmlns:a="http://schemas.openxmlformats.org/drawingml/2006/main">
              <a:ext uri="{FF2B5EF4-FFF2-40B4-BE49-F238E27FC236}">
                <a16:creationId xmlns:a16="http://schemas.microsoft.com/office/drawing/2014/main" id="{D3307CB8-73DA-4B17-A6D6-2D7C15F6EE46}"/>
              </a:ext>
            </a:extLst>
          </p:cNvPr>
          <p:cNvSpPr>
            <a:spLocks xmlns:a="http://schemas.openxmlformats.org/drawingml/2006/main" noGrp="1"/>
          </p:cNvSpPr>
          <p:nvPr/>
        </p:nvSpPr>
        <p:spPr>
          <a:xfrm xmlns:a="http://schemas.openxmlformats.org/drawingml/2006/main">
            <a:off x="590550" y="2428875"/>
            <a:ext cx="638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325" b="1">
                <a:solidFill>
                  <a:srgbClr val="FFFFFF"/>
                </a:solidFill>
                <a:latin typeface="Arial"/>
                <a:ea typeface="Arial"/>
                <a:cs typeface="Arial"/>
              </a:defRPr>
            </a:pPr>
            <a:r>
              <a:rPr sz="5325" b="1">
                <a:solidFill>
                  <a:srgbClr val="FFFFFF"/>
                </a:solidFill>
                <a:latin typeface="Arial"/>
                <a:ea typeface="Arial"/>
                <a:cs typeface="Arial"/>
              </a:rPr>
              <a:t>Enterprise GPT</a:t>
            </a:r>
          </a:p>
        </p:txBody>
      </p:sp>
      <p:sp>
        <p:nvSpPr>
          <p:cNvPr id="4" name="">
            <a:extLst xmlns:a="http://schemas.openxmlformats.org/drawingml/2006/main">
              <a:ext uri="{FF2B5EF4-FFF2-40B4-BE49-F238E27FC236}">
                <a16:creationId xmlns:a16="http://schemas.microsoft.com/office/drawing/2014/main" id="{28874628-6A2C-4A57-864B-BD73B9B9F8B1}"/>
              </a:ext>
            </a:extLst>
          </p:cNvPr>
          <p:cNvSpPr>
            <a:spLocks xmlns:a="http://schemas.openxmlformats.org/drawingml/2006/main" noGrp="1"/>
          </p:cNvSpPr>
          <p:nvPr/>
        </p:nvSpPr>
        <p:spPr>
          <a:xfrm xmlns:a="http://schemas.openxmlformats.org/drawingml/2006/main">
            <a:off x="609600" y="3429000"/>
            <a:ext cx="561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C7EBFB"/>
                </a:solidFill>
                <a:latin typeface="Arial"/>
                <a:ea typeface="Arial"/>
                <a:cs typeface="Arial"/>
              </a:defRPr>
            </a:pPr>
            <a:r>
              <a:rPr sz="2700" b="0">
                <a:solidFill>
                  <a:srgbClr val="C7EBFB"/>
                </a:solidFill>
                <a:latin typeface="Arial"/>
                <a:ea typeface="Arial"/>
                <a:cs typeface="Arial"/>
              </a:rPr>
              <a:t>AI knowledge assistant</a:t>
            </a:r>
          </a:p>
        </p:txBody>
      </p:sp>
      <p:sp>
        <p:nvSpPr>
          <p:cNvPr id="5" name="">
            <a:extLst xmlns:a="http://schemas.openxmlformats.org/drawingml/2006/main">
              <a:ext uri="{FF2B5EF4-FFF2-40B4-BE49-F238E27FC236}">
                <a16:creationId xmlns:a16="http://schemas.microsoft.com/office/drawing/2014/main" id="{784DA530-1AFC-44EE-B7FF-F5BF8C7C2E3C}"/>
              </a:ext>
            </a:extLst>
          </p:cNvPr>
          <p:cNvSpPr>
            <a:spLocks xmlns:a="http://schemas.openxmlformats.org/drawingml/2006/main" noGrp="1"/>
          </p:cNvSpPr>
          <p:nvPr/>
        </p:nvSpPr>
        <p:spPr>
          <a:xfrm xmlns:a="http://schemas.openxmlformats.org/drawingml/2006/main">
            <a:off x="609600" y="52768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Project architecture, product workflow and enterprise value</a:t>
            </a:r>
          </a:p>
        </p:txBody>
      </p:sp>
      <p:sp>
        <p:nvSpPr>
          <p:cNvPr id="6" name="">
            <a:extLst xmlns:a="http://schemas.openxmlformats.org/drawingml/2006/main">
              <a:ext uri="{FF2B5EF4-FFF2-40B4-BE49-F238E27FC236}">
                <a16:creationId xmlns:a16="http://schemas.microsoft.com/office/drawing/2014/main" id="{D32B0B0C-FF32-473B-B5CC-0F8809CE2CDD}"/>
              </a:ext>
            </a:extLst>
          </p:cNvPr>
          <p:cNvSpPr>
            <a:spLocks xmlns:a="http://schemas.openxmlformats.org/drawingml/2006/main" noGrp="1"/>
          </p:cNvSpPr>
          <p:nvPr/>
        </p:nvSpPr>
        <p:spPr>
          <a:xfrm xmlns:a="http://schemas.openxmlformats.org/drawingml/2006/main">
            <a:off x="609600" y="61341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B8DAEC"/>
                </a:solidFill>
                <a:latin typeface="Arial"/>
                <a:ea typeface="Arial"/>
                <a:cs typeface="Arial"/>
              </a:defRPr>
            </a:pPr>
            <a:r>
              <a:rPr sz="1350" b="0">
                <a:solidFill>
                  <a:srgbClr val="B8DAEC"/>
                </a:solidFill>
                <a:latin typeface="Arial"/>
                <a:ea typeface="Arial"/>
                <a:cs typeface="Arial"/>
              </a:rPr>
              <a:t>Capstone presentation  •  September 2026</a:t>
            </a:r>
          </a:p>
        </p:txBody>
      </p:sp>
    </p:spTree>
    <p:extLst>
      <p:ext uri="{BB962C8B-B14F-4D97-AF65-F5344CB8AC3E}">
        <p14:creationId xmlns:p14="http://schemas.microsoft.com/office/powerpoint/2010/main" val="21355876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03AC15-63C2-41CA-8124-CD162C76B785}"/>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Project objective</a:t>
            </a:r>
          </a:p>
        </p:txBody>
      </p:sp>
      <p:sp>
        <p:nvSpPr>
          <p:cNvPr id="2" name="">
            <a:extLst xmlns:a="http://schemas.openxmlformats.org/drawingml/2006/main">
              <a:ext uri="{FF2B5EF4-FFF2-40B4-BE49-F238E27FC236}">
                <a16:creationId xmlns:a16="http://schemas.microsoft.com/office/drawing/2014/main" id="{89EBD30F-6B2A-4EDD-A76A-2078F3974778}"/>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FCFDCF23-42E3-410E-96F0-F8E101ACF31E}"/>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B9529206-EBC1-40F3-9414-B1096CD8ED34}"/>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5006242-349B-4357-AD52-22D9805A2349}"/>
              </a:ext>
            </a:extLst>
          </p:cNvPr>
          <p:cNvSpPr>
            <a:spLocks xmlns:a="http://schemas.openxmlformats.org/drawingml/2006/main" noGrp="1"/>
          </p:cNvSpPr>
          <p:nvPr/>
        </p:nvSpPr>
        <p:spPr>
          <a:xfrm xmlns:a="http://schemas.openxmlformats.org/drawingml/2006/main">
            <a:off x="685800" y="1619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62B54"/>
                </a:solidFill>
                <a:latin typeface="Arial"/>
                <a:ea typeface="Arial"/>
                <a:cs typeface="Arial"/>
              </a:defRPr>
            </a:pPr>
            <a:r>
              <a:rPr sz="2325" b="1">
                <a:solidFill>
                  <a:srgbClr val="062B54"/>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4859E773-5409-4174-AA4C-C7629BDE601A}"/>
              </a:ext>
            </a:extLst>
          </p:cNvPr>
          <p:cNvSpPr>
            <a:spLocks xmlns:a="http://schemas.openxmlformats.org/drawingml/2006/main" noGrp="1"/>
          </p:cNvSpPr>
          <p:nvPr/>
        </p:nvSpPr>
        <p:spPr>
          <a:xfrm xmlns:a="http://schemas.openxmlformats.org/drawingml/2006/main">
            <a:off x="685800" y="2152650"/>
            <a:ext cx="4810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5344D"/>
                </a:solidFill>
                <a:latin typeface="Arial"/>
                <a:ea typeface="Arial"/>
                <a:cs typeface="Arial"/>
              </a:defRPr>
            </a:pPr>
            <a:r>
              <a:rPr sz="2100" b="0">
                <a:solidFill>
                  <a:srgbClr val="15344D"/>
                </a:solidFill>
                <a:latin typeface="Arial"/>
                <a:ea typeface="Arial"/>
                <a:cs typeface="Arial"/>
              </a:rPr>
              <a:t>Employees search across policies, SOPs and runbooks. Answers can be slow to find, hard to verify, or outside a person’s access scope.</a:t>
            </a:r>
          </a:p>
        </p:txBody>
      </p:sp>
      <p:sp>
        <p:nvSpPr>
          <p:cNvPr id="7" name="">
            <a:extLst xmlns:a="http://schemas.openxmlformats.org/drawingml/2006/main">
              <a:ext uri="{FF2B5EF4-FFF2-40B4-BE49-F238E27FC236}">
                <a16:creationId xmlns:a16="http://schemas.microsoft.com/office/drawing/2014/main" id="{E08CE340-B375-4FEE-821C-27531EA1CD87}"/>
              </a:ext>
            </a:extLst>
          </p:cNvPr>
          <p:cNvSpPr>
            <a:spLocks xmlns:a="http://schemas.openxmlformats.org/drawingml/2006/main" noGrp="1"/>
          </p:cNvSpPr>
          <p:nvPr/>
        </p:nvSpPr>
        <p:spPr>
          <a:xfrm xmlns:a="http://schemas.openxmlformats.org/drawingml/2006/main">
            <a:off x="5991225" y="1657350"/>
            <a:ext cx="0" cy="4010025"/>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8" name="">
            <a:extLst xmlns:a="http://schemas.openxmlformats.org/drawingml/2006/main">
              <a:ext uri="{FF2B5EF4-FFF2-40B4-BE49-F238E27FC236}">
                <a16:creationId xmlns:a16="http://schemas.microsoft.com/office/drawing/2014/main" id="{DD880C17-8DA7-40AE-83CF-7BE04151A619}"/>
              </a:ext>
            </a:extLst>
          </p:cNvPr>
          <p:cNvSpPr>
            <a:spLocks xmlns:a="http://schemas.openxmlformats.org/drawingml/2006/main" noGrp="1"/>
          </p:cNvSpPr>
          <p:nvPr/>
        </p:nvSpPr>
        <p:spPr>
          <a:xfrm xmlns:a="http://schemas.openxmlformats.org/drawingml/2006/main">
            <a:off x="6553200" y="16192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62B54"/>
                </a:solidFill>
                <a:latin typeface="Arial"/>
                <a:ea typeface="Arial"/>
                <a:cs typeface="Arial"/>
              </a:defRPr>
            </a:pPr>
            <a:r>
              <a:rPr sz="2325" b="1">
                <a:solidFill>
                  <a:srgbClr val="062B54"/>
                </a:solidFill>
                <a:latin typeface="Arial"/>
                <a:ea typeface="Arial"/>
                <a:cs typeface="Arial"/>
              </a:rPr>
              <a:t>The objective</a:t>
            </a:r>
          </a:p>
        </p:txBody>
      </p:sp>
      <p:sp>
        <p:nvSpPr>
          <p:cNvPr id="9" name="">
            <a:extLst xmlns:a="http://schemas.openxmlformats.org/drawingml/2006/main">
              <a:ext uri="{FF2B5EF4-FFF2-40B4-BE49-F238E27FC236}">
                <a16:creationId xmlns:a16="http://schemas.microsoft.com/office/drawing/2014/main" id="{5427B8C3-AE49-42D0-9C18-5E542977B5C8}"/>
              </a:ext>
            </a:extLst>
          </p:cNvPr>
          <p:cNvSpPr>
            <a:spLocks xmlns:a="http://schemas.openxmlformats.org/drawingml/2006/main" noGrp="1"/>
          </p:cNvSpPr>
          <p:nvPr/>
        </p:nvSpPr>
        <p:spPr>
          <a:xfrm xmlns:a="http://schemas.openxmlformats.org/drawingml/2006/main">
            <a:off x="6553200" y="21526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5344D"/>
                </a:solidFill>
                <a:latin typeface="Arial"/>
                <a:ea typeface="Arial"/>
                <a:cs typeface="Arial"/>
              </a:defRPr>
            </a:pPr>
            <a:r>
              <a:rPr sz="2100" b="0">
                <a:solidFill>
                  <a:srgbClr val="15344D"/>
                </a:solidFill>
                <a:latin typeface="Arial"/>
                <a:ea typeface="Arial"/>
                <a:cs typeface="Arial"/>
              </a:rPr>
              <a:t>Give employees a direct answer from approved documents, show the evidence, and enforce access before the answer is assembled.</a:t>
            </a:r>
          </a:p>
        </p:txBody>
      </p:sp>
      <p:sp>
        <p:nvSpPr>
          <p:cNvPr id="10" name="">
            <a:extLst xmlns:a="http://schemas.openxmlformats.org/drawingml/2006/main">
              <a:ext uri="{FF2B5EF4-FFF2-40B4-BE49-F238E27FC236}">
                <a16:creationId xmlns:a16="http://schemas.microsoft.com/office/drawing/2014/main" id="{A5C8985A-1D62-487A-8895-42652E16B05F}"/>
              </a:ext>
            </a:extLst>
          </p:cNvPr>
          <p:cNvSpPr>
            <a:spLocks xmlns:a="http://schemas.openxmlformats.org/drawingml/2006/main" noGrp="1"/>
          </p:cNvSpPr>
          <p:nvPr/>
        </p:nvSpPr>
        <p:spPr>
          <a:xfrm xmlns:a="http://schemas.openxmlformats.org/drawingml/2006/main">
            <a:off x="685800" y="4905375"/>
            <a:ext cx="10477500" cy="704850"/>
          </a:xfrm>
          <a:prstGeom xmlns:a="http://schemas.openxmlformats.org/drawingml/2006/main" prst="rect">
            <a:avLst/>
          </a:prstGeom>
          <a:solidFill xmlns:a="http://schemas.openxmlformats.org/drawingml/2006/main">
            <a:srgbClr val="EAF6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69876D-9F1E-4D5F-B101-14C6ADC45FD0}"/>
              </a:ext>
            </a:extLst>
          </p:cNvPr>
          <p:cNvSpPr>
            <a:spLocks xmlns:a="http://schemas.openxmlformats.org/drawingml/2006/main" noGrp="1"/>
          </p:cNvSpPr>
          <p:nvPr/>
        </p:nvSpPr>
        <p:spPr>
          <a:xfrm xmlns:a="http://schemas.openxmlformats.org/drawingml/2006/main">
            <a:off x="866775" y="503872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CC1"/>
                </a:solidFill>
                <a:latin typeface="Arial"/>
                <a:ea typeface="Arial"/>
                <a:cs typeface="Arial"/>
              </a:defRPr>
            </a:pPr>
            <a:r>
              <a:rPr sz="1875" b="1">
                <a:solidFill>
                  <a:srgbClr val="087CC1"/>
                </a:solidFill>
                <a:latin typeface="Arial"/>
                <a:ea typeface="Arial"/>
                <a:cs typeface="Arial"/>
              </a:rPr>
              <a:t>Capstone scope: a working governed retrieval prototype with fictional sample data</a:t>
            </a:r>
          </a:p>
        </p:txBody>
      </p:sp>
    </p:spTree>
    <p:extLst>
      <p:ext uri="{BB962C8B-B14F-4D97-AF65-F5344CB8AC3E}">
        <p14:creationId xmlns:p14="http://schemas.microsoft.com/office/powerpoint/2010/main" val="12254488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F8898A-8E6D-4ED4-BF00-162D4D0B4AE4}"/>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Who uses the product</a:t>
            </a:r>
          </a:p>
        </p:txBody>
      </p:sp>
      <p:sp>
        <p:nvSpPr>
          <p:cNvPr id="2" name="">
            <a:extLst xmlns:a="http://schemas.openxmlformats.org/drawingml/2006/main">
              <a:ext uri="{FF2B5EF4-FFF2-40B4-BE49-F238E27FC236}">
                <a16:creationId xmlns:a16="http://schemas.microsoft.com/office/drawing/2014/main" id="{F2148D18-ED62-4D36-B824-5635BEE53884}"/>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CED05D11-3D67-4B64-8566-1822A6A8B5C7}"/>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8DAB4C91-DBA5-4AD2-8FD0-B33D29604A9C}"/>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C542A76-EDA6-4810-9460-C20BBE73A4AC}"/>
              </a:ext>
            </a:extLst>
          </p:cNvPr>
          <p:cNvSpPr>
            <a:spLocks xmlns:a="http://schemas.openxmlformats.org/drawingml/2006/main" noGrp="1"/>
          </p:cNvSpPr>
          <p:nvPr/>
        </p:nvSpPr>
        <p:spPr>
          <a:xfrm xmlns:a="http://schemas.openxmlformats.org/drawingml/2006/main">
            <a:off x="685800" y="166687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62B54"/>
                </a:solidFill>
                <a:latin typeface="Arial"/>
                <a:ea typeface="Arial"/>
                <a:cs typeface="Arial"/>
              </a:defRPr>
            </a:pPr>
            <a:r>
              <a:rPr sz="2325" b="1">
                <a:solidFill>
                  <a:srgbClr val="062B54"/>
                </a:solidFill>
                <a:latin typeface="Arial"/>
                <a:ea typeface="Arial"/>
                <a:cs typeface="Arial"/>
              </a:rPr>
              <a:t>Employee</a:t>
            </a:r>
          </a:p>
        </p:txBody>
      </p:sp>
      <p:sp>
        <p:nvSpPr>
          <p:cNvPr id="6" name="">
            <a:extLst xmlns:a="http://schemas.openxmlformats.org/drawingml/2006/main">
              <a:ext uri="{FF2B5EF4-FFF2-40B4-BE49-F238E27FC236}">
                <a16:creationId xmlns:a16="http://schemas.microsoft.com/office/drawing/2014/main" id="{F0838A5F-2549-401F-9FE6-34E400D3DB6B}"/>
              </a:ext>
            </a:extLst>
          </p:cNvPr>
          <p:cNvSpPr>
            <a:spLocks xmlns:a="http://schemas.openxmlformats.org/drawingml/2006/main" noGrp="1"/>
          </p:cNvSpPr>
          <p:nvPr/>
        </p:nvSpPr>
        <p:spPr>
          <a:xfrm xmlns:a="http://schemas.openxmlformats.org/drawingml/2006/main">
            <a:off x="685800" y="2143125"/>
            <a:ext cx="4143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5344D"/>
                </a:solidFill>
                <a:latin typeface="Arial"/>
                <a:ea typeface="Arial"/>
                <a:cs typeface="Arial"/>
              </a:defRPr>
            </a:pPr>
            <a:r>
              <a:rPr sz="1950" b="0">
                <a:solidFill>
                  <a:srgbClr val="15344D"/>
                </a:solidFill>
                <a:latin typeface="Arial"/>
                <a:ea typeface="Arial"/>
                <a:cs typeface="Arial"/>
              </a:rPr>
              <a:t>Asks a question and opens the cited source before acting.</a:t>
            </a:r>
          </a:p>
        </p:txBody>
      </p:sp>
      <p:sp>
        <p:nvSpPr>
          <p:cNvPr id="7" name="">
            <a:extLst xmlns:a="http://schemas.openxmlformats.org/drawingml/2006/main">
              <a:ext uri="{FF2B5EF4-FFF2-40B4-BE49-F238E27FC236}">
                <a16:creationId xmlns:a16="http://schemas.microsoft.com/office/drawing/2014/main" id="{11C2FB6C-7CBE-4314-99F9-93D5A3E3B1C1}"/>
              </a:ext>
            </a:extLst>
          </p:cNvPr>
          <p:cNvSpPr>
            <a:spLocks xmlns:a="http://schemas.openxmlformats.org/drawingml/2006/main" noGrp="1"/>
          </p:cNvSpPr>
          <p:nvPr/>
        </p:nvSpPr>
        <p:spPr>
          <a:xfrm xmlns:a="http://schemas.openxmlformats.org/drawingml/2006/main">
            <a:off x="685800" y="347662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62B54"/>
                </a:solidFill>
                <a:latin typeface="Arial"/>
                <a:ea typeface="Arial"/>
                <a:cs typeface="Arial"/>
              </a:defRPr>
            </a:pPr>
            <a:r>
              <a:rPr sz="2325" b="1">
                <a:solidFill>
                  <a:srgbClr val="062B54"/>
                </a:solidFill>
                <a:latin typeface="Arial"/>
                <a:ea typeface="Arial"/>
                <a:cs typeface="Arial"/>
              </a:rPr>
              <a:t>Administrator</a:t>
            </a:r>
          </a:p>
        </p:txBody>
      </p:sp>
      <p:sp>
        <p:nvSpPr>
          <p:cNvPr id="8" name="">
            <a:extLst xmlns:a="http://schemas.openxmlformats.org/drawingml/2006/main">
              <a:ext uri="{FF2B5EF4-FFF2-40B4-BE49-F238E27FC236}">
                <a16:creationId xmlns:a16="http://schemas.microsoft.com/office/drawing/2014/main" id="{8EA426A0-F959-4A6D-8F68-101C7140D997}"/>
              </a:ext>
            </a:extLst>
          </p:cNvPr>
          <p:cNvSpPr>
            <a:spLocks xmlns:a="http://schemas.openxmlformats.org/drawingml/2006/main" noGrp="1"/>
          </p:cNvSpPr>
          <p:nvPr/>
        </p:nvSpPr>
        <p:spPr>
          <a:xfrm xmlns:a="http://schemas.openxmlformats.org/drawingml/2006/main">
            <a:off x="685800" y="3952875"/>
            <a:ext cx="4143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5344D"/>
                </a:solidFill>
                <a:latin typeface="Arial"/>
                <a:ea typeface="Arial"/>
                <a:cs typeface="Arial"/>
              </a:defRPr>
            </a:pPr>
            <a:r>
              <a:rPr sz="1950" b="0">
                <a:solidFill>
                  <a:srgbClr val="15344D"/>
                </a:solidFill>
                <a:latin typeface="Arial"/>
                <a:ea typeface="Arial"/>
                <a:cs typeface="Arial"/>
              </a:rPr>
              <a:t>Adds approved documents and reviews quality activity.</a:t>
            </a:r>
          </a:p>
        </p:txBody>
      </p:sp>
      <p:sp>
        <p:nvSpPr>
          <p:cNvPr id="9" name="">
            <a:extLst xmlns:a="http://schemas.openxmlformats.org/drawingml/2006/main">
              <a:ext uri="{FF2B5EF4-FFF2-40B4-BE49-F238E27FC236}">
                <a16:creationId xmlns:a16="http://schemas.microsoft.com/office/drawing/2014/main" id="{31388F87-7CFC-4042-91EA-06D0DC9CC55A}"/>
              </a:ext>
            </a:extLst>
          </p:cNvPr>
          <p:cNvSpPr>
            <a:spLocks xmlns:a="http://schemas.openxmlformats.org/drawingml/2006/main" noGrp="1"/>
          </p:cNvSpPr>
          <p:nvPr/>
        </p:nvSpPr>
        <p:spPr>
          <a:xfrm xmlns:a="http://schemas.openxmlformats.org/drawingml/2006/main">
            <a:off x="685800" y="5467350"/>
            <a:ext cx="4143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C7184"/>
                </a:solidFill>
                <a:latin typeface="Arial"/>
                <a:ea typeface="Arial"/>
                <a:cs typeface="Arial"/>
              </a:defRPr>
            </a:pPr>
            <a:r>
              <a:rPr sz="1650" b="0">
                <a:solidFill>
                  <a:srgbClr val="5C7184"/>
                </a:solidFill>
                <a:latin typeface="Arial"/>
                <a:ea typeface="Arial"/>
                <a:cs typeface="Arial"/>
              </a:rPr>
              <a:t>The seeded accounts are demo identities.</a:t>
            </a:r>
          </a:p>
        </p:txBody>
      </p:sp>
      <p:sp>
        <p:nvSpPr>
          <p:cNvPr id="10" name="">
            <a:extLst xmlns:a="http://schemas.openxmlformats.org/drawingml/2006/main">
              <a:ext uri="{FF2B5EF4-FFF2-40B4-BE49-F238E27FC236}">
                <a16:creationId xmlns:a16="http://schemas.microsoft.com/office/drawing/2014/main" id="{728A5496-A4FE-4E96-B1FA-75ABDDE201DC}"/>
              </a:ext>
            </a:extLst>
          </p:cNvPr>
          <p:cNvSpPr>
            <a:spLocks xmlns:a="http://schemas.openxmlformats.org/drawingml/2006/main" noGrp="1"/>
          </p:cNvSpPr>
          <p:nvPr/>
        </p:nvSpPr>
        <p:spPr>
          <a:xfrm xmlns:a="http://schemas.openxmlformats.org/drawingml/2006/main">
            <a:off x="5200650" y="1590675"/>
            <a:ext cx="6391275" cy="3800475"/>
          </a:xfrm>
          <a:prstGeom xmlns:a="http://schemas.openxmlformats.org/drawingml/2006/main" prst="roundRect">
            <a:avLst>
              <a:gd name="adj" fmla="val 2005"/>
            </a:avLst>
          </a:prstGeom>
          <a:solidFill xmlns:a="http://schemas.openxmlformats.org/drawingml/2006/main">
            <a:srgbClr val="FFFFFF"/>
          </a:solidFill>
          <a:ln xmlns:a="http://schemas.openxmlformats.org/drawingml/2006/main" w="19050">
            <a:solidFill>
              <a:srgbClr val="D7E7EF"/>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8838e44fc1d421c"/>
          <a:stretch xmlns:a="http://schemas.openxmlformats.org/drawingml/2006/main"/>
        </p:blipFill>
        <p:spPr>
          <a:xfrm xmlns:a="http://schemas.openxmlformats.org/drawingml/2006/main">
            <a:off x="5219700" y="1696519"/>
            <a:ext cx="6353175" cy="3588788"/>
          </a:xfrm>
          <a:prstGeom xmlns:a="http://schemas.openxmlformats.org/drawingml/2006/main" prst="rect">
            <a:avLst/>
          </a:prstGeom>
        </p:spPr>
      </p:pic>
    </p:spTree>
    <p:extLst>
      <p:ext uri="{BB962C8B-B14F-4D97-AF65-F5344CB8AC3E}">
        <p14:creationId xmlns:p14="http://schemas.microsoft.com/office/powerpoint/2010/main" val="1463786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D628527-DA85-4688-99FD-9BC03AB3A283}"/>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How the parts connect</a:t>
            </a:r>
          </a:p>
        </p:txBody>
      </p:sp>
      <p:sp>
        <p:nvSpPr>
          <p:cNvPr id="2" name="">
            <a:extLst xmlns:a="http://schemas.openxmlformats.org/drawingml/2006/main">
              <a:ext uri="{FF2B5EF4-FFF2-40B4-BE49-F238E27FC236}">
                <a16:creationId xmlns:a16="http://schemas.microsoft.com/office/drawing/2014/main" id="{D812E4CC-6FCD-46EF-9332-E97386FD931B}"/>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522464AC-DF5B-4865-B14C-FF3D59203204}"/>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11CD00AF-51CD-44B6-A80F-5C7AC6F454E4}"/>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66CBE6F-3FDA-4582-8AFD-E926A633CE76}"/>
              </a:ext>
            </a:extLst>
          </p:cNvPr>
          <p:cNvSpPr>
            <a:spLocks xmlns:a="http://schemas.openxmlformats.org/drawingml/2006/main" noGrp="1"/>
          </p:cNvSpPr>
          <p:nvPr/>
        </p:nvSpPr>
        <p:spPr>
          <a:xfrm xmlns:a="http://schemas.openxmlformats.org/drawingml/2006/main">
            <a:off x="552450" y="2809875"/>
            <a:ext cx="1581150" cy="742950"/>
          </a:xfrm>
          <a:prstGeom xmlns:a="http://schemas.openxmlformats.org/drawingml/2006/main" prst="roundRect">
            <a:avLst>
              <a:gd name="adj" fmla="val 15385"/>
            </a:avLst>
          </a:prstGeom>
          <a:solidFill xmlns:a="http://schemas.openxmlformats.org/drawingml/2006/main">
            <a:srgbClr val="EAF6FC"/>
          </a:solidFill>
          <a:ln xmlns:a="http://schemas.openxmlformats.org/drawingml/2006/main" w="19050">
            <a:solidFill>
              <a:srgbClr val="087CC1"/>
            </a:solidFill>
            <a:prstDash val="solid"/>
          </a:ln>
        </p:spPr>
      </p:sp>
      <p:sp>
        <p:nvSpPr>
          <p:cNvPr id="6" name="">
            <a:extLst xmlns:a="http://schemas.openxmlformats.org/drawingml/2006/main">
              <a:ext uri="{FF2B5EF4-FFF2-40B4-BE49-F238E27FC236}">
                <a16:creationId xmlns:a16="http://schemas.microsoft.com/office/drawing/2014/main" id="{FA9718B2-02C0-4804-B8E6-41E3904C413C}"/>
              </a:ext>
            </a:extLst>
          </p:cNvPr>
          <p:cNvSpPr>
            <a:spLocks xmlns:a="http://schemas.openxmlformats.org/drawingml/2006/main" noGrp="1"/>
          </p:cNvSpPr>
          <p:nvPr/>
        </p:nvSpPr>
        <p:spPr>
          <a:xfrm xmlns:a="http://schemas.openxmlformats.org/drawingml/2006/main">
            <a:off x="657225" y="2886075"/>
            <a:ext cx="1371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Browser UI</a:t>
            </a:r>
          </a:p>
        </p:txBody>
      </p:sp>
      <p:sp>
        <p:nvSpPr>
          <p:cNvPr id="7" name="">
            <a:extLst xmlns:a="http://schemas.openxmlformats.org/drawingml/2006/main">
              <a:ext uri="{FF2B5EF4-FFF2-40B4-BE49-F238E27FC236}">
                <a16:creationId xmlns:a16="http://schemas.microsoft.com/office/drawing/2014/main" id="{76702374-3B8F-41B2-B4F7-6E189EA66904}"/>
              </a:ext>
            </a:extLst>
          </p:cNvPr>
          <p:cNvSpPr>
            <a:spLocks xmlns:a="http://schemas.openxmlformats.org/drawingml/2006/main" noGrp="1"/>
          </p:cNvSpPr>
          <p:nvPr/>
        </p:nvSpPr>
        <p:spPr>
          <a:xfrm xmlns:a="http://schemas.openxmlformats.org/drawingml/2006/main">
            <a:off x="2628900" y="2647950"/>
            <a:ext cx="1905000" cy="1057275"/>
          </a:xfrm>
          <a:prstGeom xmlns:a="http://schemas.openxmlformats.org/drawingml/2006/main" prst="roundRect">
            <a:avLst>
              <a:gd name="adj" fmla="val 10811"/>
            </a:avLst>
          </a:prstGeom>
          <a:solidFill xmlns:a="http://schemas.openxmlformats.org/drawingml/2006/main">
            <a:srgbClr val="EAF6FC"/>
          </a:solidFill>
          <a:ln xmlns:a="http://schemas.openxmlformats.org/drawingml/2006/main" w="19050">
            <a:solidFill>
              <a:srgbClr val="087CC1"/>
            </a:solidFill>
            <a:prstDash val="solid"/>
          </a:ln>
        </p:spPr>
      </p:sp>
      <p:sp>
        <p:nvSpPr>
          <p:cNvPr id="8" name="">
            <a:extLst xmlns:a="http://schemas.openxmlformats.org/drawingml/2006/main">
              <a:ext uri="{FF2B5EF4-FFF2-40B4-BE49-F238E27FC236}">
                <a16:creationId xmlns:a16="http://schemas.microsoft.com/office/drawing/2014/main" id="{A23D5D95-38FA-40D1-80E9-8F61C0500F74}"/>
              </a:ext>
            </a:extLst>
          </p:cNvPr>
          <p:cNvSpPr>
            <a:spLocks xmlns:a="http://schemas.openxmlformats.org/drawingml/2006/main" noGrp="1"/>
          </p:cNvSpPr>
          <p:nvPr/>
        </p:nvSpPr>
        <p:spPr>
          <a:xfrm xmlns:a="http://schemas.openxmlformats.org/drawingml/2006/main">
            <a:off x="2733675" y="2724150"/>
            <a:ext cx="1695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Python HTTP API</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login + query flow</a:t>
            </a:r>
          </a:p>
        </p:txBody>
      </p:sp>
      <p:sp>
        <p:nvSpPr>
          <p:cNvPr id="9" name="">
            <a:extLst xmlns:a="http://schemas.openxmlformats.org/drawingml/2006/main">
              <a:ext uri="{FF2B5EF4-FFF2-40B4-BE49-F238E27FC236}">
                <a16:creationId xmlns:a16="http://schemas.microsoft.com/office/drawing/2014/main" id="{BC4EDFCA-3275-418F-A340-9263B5601B48}"/>
              </a:ext>
            </a:extLst>
          </p:cNvPr>
          <p:cNvSpPr>
            <a:spLocks xmlns:a="http://schemas.openxmlformats.org/drawingml/2006/main" noGrp="1"/>
          </p:cNvSpPr>
          <p:nvPr/>
        </p:nvSpPr>
        <p:spPr>
          <a:xfrm xmlns:a="http://schemas.openxmlformats.org/drawingml/2006/main">
            <a:off x="5029200" y="2800350"/>
            <a:ext cx="1638300" cy="742950"/>
          </a:xfrm>
          <a:prstGeom xmlns:a="http://schemas.openxmlformats.org/drawingml/2006/main" prst="roundRect">
            <a:avLst>
              <a:gd name="adj" fmla="val 15385"/>
            </a:avLst>
          </a:prstGeom>
          <a:solidFill xmlns:a="http://schemas.openxmlformats.org/drawingml/2006/main">
            <a:srgbClr val="EAF6FC"/>
          </a:solidFill>
          <a:ln xmlns:a="http://schemas.openxmlformats.org/drawingml/2006/main" w="19050">
            <a:solidFill>
              <a:srgbClr val="087CC1"/>
            </a:solidFill>
            <a:prstDash val="solid"/>
          </a:ln>
        </p:spPr>
      </p:sp>
      <p:sp>
        <p:nvSpPr>
          <p:cNvPr id="10" name="">
            <a:extLst xmlns:a="http://schemas.openxmlformats.org/drawingml/2006/main">
              <a:ext uri="{FF2B5EF4-FFF2-40B4-BE49-F238E27FC236}">
                <a16:creationId xmlns:a16="http://schemas.microsoft.com/office/drawing/2014/main" id="{D6B02B14-D225-4CCA-BD41-827F85765629}"/>
              </a:ext>
            </a:extLst>
          </p:cNvPr>
          <p:cNvSpPr>
            <a:spLocks xmlns:a="http://schemas.openxmlformats.org/drawingml/2006/main" noGrp="1"/>
          </p:cNvSpPr>
          <p:nvPr/>
        </p:nvSpPr>
        <p:spPr>
          <a:xfrm xmlns:a="http://schemas.openxmlformats.org/drawingml/2006/main">
            <a:off x="5133975" y="2876550"/>
            <a:ext cx="142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Route decision</a:t>
            </a:r>
          </a:p>
        </p:txBody>
      </p:sp>
      <p:sp>
        <p:nvSpPr>
          <p:cNvPr id="11" name="">
            <a:extLst xmlns:a="http://schemas.openxmlformats.org/drawingml/2006/main">
              <a:ext uri="{FF2B5EF4-FFF2-40B4-BE49-F238E27FC236}">
                <a16:creationId xmlns:a16="http://schemas.microsoft.com/office/drawing/2014/main" id="{D904BA5F-51C4-4A45-9E5B-73E4CAFE9E11}"/>
              </a:ext>
            </a:extLst>
          </p:cNvPr>
          <p:cNvSpPr>
            <a:spLocks xmlns:a="http://schemas.openxmlformats.org/drawingml/2006/main" noGrp="1"/>
          </p:cNvSpPr>
          <p:nvPr/>
        </p:nvSpPr>
        <p:spPr>
          <a:xfrm xmlns:a="http://schemas.openxmlformats.org/drawingml/2006/main">
            <a:off x="7191375" y="1676400"/>
            <a:ext cx="1847850" cy="876300"/>
          </a:xfrm>
          <a:prstGeom xmlns:a="http://schemas.openxmlformats.org/drawingml/2006/main" prst="roundRect">
            <a:avLst>
              <a:gd name="adj" fmla="val 13043"/>
            </a:avLst>
          </a:prstGeom>
          <a:solidFill xmlns:a="http://schemas.openxmlformats.org/drawingml/2006/main">
            <a:srgbClr val="E4F4FB"/>
          </a:solidFill>
          <a:ln xmlns:a="http://schemas.openxmlformats.org/drawingml/2006/main" w="19050">
            <a:solidFill>
              <a:srgbClr val="087CC1"/>
            </a:solidFill>
            <a:prstDash val="solid"/>
          </a:ln>
        </p:spPr>
      </p:sp>
      <p:sp>
        <p:nvSpPr>
          <p:cNvPr id="12" name="">
            <a:extLst xmlns:a="http://schemas.openxmlformats.org/drawingml/2006/main">
              <a:ext uri="{FF2B5EF4-FFF2-40B4-BE49-F238E27FC236}">
                <a16:creationId xmlns:a16="http://schemas.microsoft.com/office/drawing/2014/main" id="{32ED83CF-74C2-4392-9346-66D2440142AF}"/>
              </a:ext>
            </a:extLst>
          </p:cNvPr>
          <p:cNvSpPr>
            <a:spLocks xmlns:a="http://schemas.openxmlformats.org/drawingml/2006/main" noGrp="1"/>
          </p:cNvSpPr>
          <p:nvPr/>
        </p:nvSpPr>
        <p:spPr>
          <a:xfrm xmlns:a="http://schemas.openxmlformats.org/drawingml/2006/main">
            <a:off x="7296150" y="1752600"/>
            <a:ext cx="1638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MCP tool</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HR knowledge</a:t>
            </a:r>
          </a:p>
        </p:txBody>
      </p:sp>
      <p:sp>
        <p:nvSpPr>
          <p:cNvPr id="13" name="">
            <a:extLst xmlns:a="http://schemas.openxmlformats.org/drawingml/2006/main">
              <a:ext uri="{FF2B5EF4-FFF2-40B4-BE49-F238E27FC236}">
                <a16:creationId xmlns:a16="http://schemas.microsoft.com/office/drawing/2014/main" id="{A1A084C8-67EC-4BA7-B00A-AF881ED1B7CC}"/>
              </a:ext>
            </a:extLst>
          </p:cNvPr>
          <p:cNvSpPr>
            <a:spLocks xmlns:a="http://schemas.openxmlformats.org/drawingml/2006/main" noGrp="1"/>
          </p:cNvSpPr>
          <p:nvPr/>
        </p:nvSpPr>
        <p:spPr>
          <a:xfrm xmlns:a="http://schemas.openxmlformats.org/drawingml/2006/main">
            <a:off x="7191375" y="3876675"/>
            <a:ext cx="1847850" cy="876300"/>
          </a:xfrm>
          <a:prstGeom xmlns:a="http://schemas.openxmlformats.org/drawingml/2006/main" prst="roundRect">
            <a:avLst>
              <a:gd name="adj" fmla="val 13043"/>
            </a:avLst>
          </a:prstGeom>
          <a:solidFill xmlns:a="http://schemas.openxmlformats.org/drawingml/2006/main">
            <a:srgbClr val="E4F4FB"/>
          </a:solidFill>
          <a:ln xmlns:a="http://schemas.openxmlformats.org/drawingml/2006/main" w="19050">
            <a:solidFill>
              <a:srgbClr val="087CC1"/>
            </a:solidFill>
            <a:prstDash val="solid"/>
          </a:ln>
        </p:spPr>
      </p:sp>
      <p:sp>
        <p:nvSpPr>
          <p:cNvPr id="14" name="">
            <a:extLst xmlns:a="http://schemas.openxmlformats.org/drawingml/2006/main">
              <a:ext uri="{FF2B5EF4-FFF2-40B4-BE49-F238E27FC236}">
                <a16:creationId xmlns:a16="http://schemas.microsoft.com/office/drawing/2014/main" id="{48C80BED-D134-46F4-B839-BCCBAC8B604D}"/>
              </a:ext>
            </a:extLst>
          </p:cNvPr>
          <p:cNvSpPr>
            <a:spLocks xmlns:a="http://schemas.openxmlformats.org/drawingml/2006/main" noGrp="1"/>
          </p:cNvSpPr>
          <p:nvPr/>
        </p:nvSpPr>
        <p:spPr>
          <a:xfrm xmlns:a="http://schemas.openxmlformats.org/drawingml/2006/main">
            <a:off x="7296150" y="3952875"/>
            <a:ext cx="1638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Local search</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other queries</a:t>
            </a:r>
          </a:p>
        </p:txBody>
      </p:sp>
      <p:sp>
        <p:nvSpPr>
          <p:cNvPr id="15" name="">
            <a:extLst xmlns:a="http://schemas.openxmlformats.org/drawingml/2006/main">
              <a:ext uri="{FF2B5EF4-FFF2-40B4-BE49-F238E27FC236}">
                <a16:creationId xmlns:a16="http://schemas.microsoft.com/office/drawing/2014/main" id="{C887249D-4E15-4EDD-85D8-B338B6B88EA5}"/>
              </a:ext>
            </a:extLst>
          </p:cNvPr>
          <p:cNvSpPr>
            <a:spLocks xmlns:a="http://schemas.openxmlformats.org/drawingml/2006/main" noGrp="1"/>
          </p:cNvSpPr>
          <p:nvPr/>
        </p:nvSpPr>
        <p:spPr>
          <a:xfrm xmlns:a="http://schemas.openxmlformats.org/drawingml/2006/main">
            <a:off x="9620250" y="2657475"/>
            <a:ext cx="2019300" cy="1066800"/>
          </a:xfrm>
          <a:prstGeom xmlns:a="http://schemas.openxmlformats.org/drawingml/2006/main" prst="roundRect">
            <a:avLst>
              <a:gd name="adj" fmla="val 10714"/>
            </a:avLst>
          </a:prstGeom>
          <a:solidFill xmlns:a="http://schemas.openxmlformats.org/drawingml/2006/main">
            <a:srgbClr val="E8F3F8"/>
          </a:solidFill>
          <a:ln xmlns:a="http://schemas.openxmlformats.org/drawingml/2006/main" w="19050">
            <a:solidFill>
              <a:srgbClr val="087CC1"/>
            </a:solidFill>
            <a:prstDash val="solid"/>
          </a:ln>
        </p:spPr>
      </p:sp>
      <p:sp>
        <p:nvSpPr>
          <p:cNvPr id="16" name="">
            <a:extLst xmlns:a="http://schemas.openxmlformats.org/drawingml/2006/main">
              <a:ext uri="{FF2B5EF4-FFF2-40B4-BE49-F238E27FC236}">
                <a16:creationId xmlns:a16="http://schemas.microsoft.com/office/drawing/2014/main" id="{A77ACFF3-1AE8-4628-A23E-6D4685B58EC6}"/>
              </a:ext>
            </a:extLst>
          </p:cNvPr>
          <p:cNvSpPr>
            <a:spLocks xmlns:a="http://schemas.openxmlformats.org/drawingml/2006/main" noGrp="1"/>
          </p:cNvSpPr>
          <p:nvPr/>
        </p:nvSpPr>
        <p:spPr>
          <a:xfrm xmlns:a="http://schemas.openxmlformats.org/drawingml/2006/main">
            <a:off x="9725025" y="2733675"/>
            <a:ext cx="1809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SQLite</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documents + index + audit</a:t>
            </a:r>
          </a:p>
        </p:txBody>
      </p:sp>
      <p:cxnSp>
        <p:nvCxnSpPr>
          <p:cNvPr id="40" name=""/>
          <p:cNvCxnSpPr>
            <a:stCxn xmlns:a="http://schemas.openxmlformats.org/drawingml/2006/main" id="5" idx="3"/>
            <a:endCxn xmlns:a="http://schemas.openxmlformats.org/drawingml/2006/main" id="7" idx="1"/>
          </p:cNvCxnSpPr>
          <p:nvPr/>
        </p:nvCxnSpPr>
        <p:spPr>
          <a:xfrm xmlns:a="http://schemas.openxmlformats.org/drawingml/2006/main" flipV="1">
            <a:off x="2133600" y="3176588"/>
            <a:ext cx="495300" cy="4763"/>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1" name=""/>
          <p:cNvCxnSpPr>
            <a:stCxn xmlns:a="http://schemas.openxmlformats.org/drawingml/2006/main" id="7" idx="3"/>
            <a:endCxn xmlns:a="http://schemas.openxmlformats.org/drawingml/2006/main" id="9" idx="1"/>
          </p:cNvCxnSpPr>
          <p:nvPr/>
        </p:nvCxnSpPr>
        <p:spPr>
          <a:xfrm xmlns:a="http://schemas.openxmlformats.org/drawingml/2006/main" flipV="1">
            <a:off x="4533900" y="3171825"/>
            <a:ext cx="495300" cy="4763"/>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2" name=""/>
          <p:cNvCxnSpPr>
            <a:stCxn xmlns:a="http://schemas.openxmlformats.org/drawingml/2006/main" id="9" idx="3"/>
            <a:endCxn xmlns:a="http://schemas.openxmlformats.org/drawingml/2006/main" id="11" idx="1"/>
          </p:cNvCxnSpPr>
          <p:nvPr/>
        </p:nvCxnSpPr>
        <p:spPr>
          <a:xfrm xmlns:a="http://schemas.openxmlformats.org/drawingml/2006/main" flipV="1">
            <a:off x="6667500" y="2114550"/>
            <a:ext cx="523875" cy="1057275"/>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3" name=""/>
          <p:cNvCxnSpPr>
            <a:stCxn xmlns:a="http://schemas.openxmlformats.org/drawingml/2006/main" id="9" idx="3"/>
            <a:endCxn xmlns:a="http://schemas.openxmlformats.org/drawingml/2006/main" id="13" idx="1"/>
          </p:cNvCxnSpPr>
          <p:nvPr/>
        </p:nvCxnSpPr>
        <p:spPr>
          <a:xfrm xmlns:a="http://schemas.openxmlformats.org/drawingml/2006/main">
            <a:off x="6667500" y="3171825"/>
            <a:ext cx="523875" cy="114300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4" name=""/>
          <p:cNvCxnSpPr>
            <a:stCxn xmlns:a="http://schemas.openxmlformats.org/drawingml/2006/main" id="11" idx="3"/>
            <a:endCxn xmlns:a="http://schemas.openxmlformats.org/drawingml/2006/main" id="15" idx="1"/>
          </p:cNvCxnSpPr>
          <p:nvPr/>
        </p:nvCxnSpPr>
        <p:spPr>
          <a:xfrm xmlns:a="http://schemas.openxmlformats.org/drawingml/2006/main">
            <a:off x="9039225" y="2114550"/>
            <a:ext cx="581025" cy="1076325"/>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5" name=""/>
          <p:cNvCxnSpPr>
            <a:stCxn xmlns:a="http://schemas.openxmlformats.org/drawingml/2006/main" id="13" idx="3"/>
            <a:endCxn xmlns:a="http://schemas.openxmlformats.org/drawingml/2006/main" id="15" idx="1"/>
          </p:cNvCxnSpPr>
          <p:nvPr/>
        </p:nvCxnSpPr>
        <p:spPr>
          <a:xfrm xmlns:a="http://schemas.openxmlformats.org/drawingml/2006/main" flipV="1">
            <a:off x="9039225" y="3190875"/>
            <a:ext cx="581025" cy="112395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sp>
        <p:nvSpPr>
          <p:cNvPr id="23" name="">
            <a:extLst xmlns:a="http://schemas.openxmlformats.org/drawingml/2006/main">
              <a:ext uri="{FF2B5EF4-FFF2-40B4-BE49-F238E27FC236}">
                <a16:creationId xmlns:a16="http://schemas.microsoft.com/office/drawing/2014/main" id="{D877AB77-2CBC-44AC-A118-7819E2B2973E}"/>
              </a:ext>
            </a:extLst>
          </p:cNvPr>
          <p:cNvSpPr>
            <a:spLocks xmlns:a="http://schemas.openxmlformats.org/drawingml/2006/main" noGrp="1"/>
          </p:cNvSpPr>
          <p:nvPr/>
        </p:nvSpPr>
        <p:spPr>
          <a:xfrm xmlns:a="http://schemas.openxmlformats.org/drawingml/2006/main">
            <a:off x="847725" y="5238750"/>
            <a:ext cx="1042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5344D"/>
                </a:solidFill>
                <a:latin typeface="Arial"/>
                <a:ea typeface="Arial"/>
                <a:cs typeface="Arial"/>
              </a:defRPr>
            </a:pPr>
            <a:r>
              <a:rPr sz="1950" b="1">
                <a:solidFill>
                  <a:srgbClr val="15344D"/>
                </a:solidFill>
                <a:latin typeface="Arial"/>
                <a:ea typeface="Arial"/>
                <a:cs typeface="Arial"/>
              </a:rPr>
              <a:t>After retrieval: permission check, evidence threshold, cited answer and logging</a:t>
            </a:r>
          </a:p>
        </p:txBody>
      </p:sp>
    </p:spTree>
    <p:extLst>
      <p:ext uri="{BB962C8B-B14F-4D97-AF65-F5344CB8AC3E}">
        <p14:creationId xmlns:p14="http://schemas.microsoft.com/office/powerpoint/2010/main" val="16604764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B6BE376-B77F-4940-B7B5-B3FFE9044C45}"/>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Document ingestion pipeline</a:t>
            </a:r>
          </a:p>
        </p:txBody>
      </p:sp>
      <p:sp>
        <p:nvSpPr>
          <p:cNvPr id="2" name="">
            <a:extLst xmlns:a="http://schemas.openxmlformats.org/drawingml/2006/main">
              <a:ext uri="{FF2B5EF4-FFF2-40B4-BE49-F238E27FC236}">
                <a16:creationId xmlns:a16="http://schemas.microsoft.com/office/drawing/2014/main" id="{2794AFBE-0405-4437-A1E2-1FA76F764D4F}"/>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51FAE19D-8968-4213-AD9F-C47E8F72C18B}"/>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1809406B-8B7B-4D48-8C2F-D67DFB32ABD9}"/>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982904E-DD5C-46E7-8011-24C427F38248}"/>
              </a:ext>
            </a:extLst>
          </p:cNvPr>
          <p:cNvSpPr>
            <a:spLocks xmlns:a="http://schemas.openxmlformats.org/drawingml/2006/main" noGrp="1"/>
          </p:cNvSpPr>
          <p:nvPr/>
        </p:nvSpPr>
        <p:spPr>
          <a:xfrm xmlns:a="http://schemas.openxmlformats.org/drawingml/2006/main">
            <a:off x="571500" y="2362200"/>
            <a:ext cx="1924050" cy="1371600"/>
          </a:xfrm>
          <a:prstGeom xmlns:a="http://schemas.openxmlformats.org/drawingml/2006/main" prst="roundRect">
            <a:avLst>
              <a:gd name="adj" fmla="val 8333"/>
            </a:avLst>
          </a:prstGeom>
          <a:solidFill xmlns:a="http://schemas.openxmlformats.org/drawingml/2006/main">
            <a:srgbClr val="EAF6FC"/>
          </a:solidFill>
          <a:ln xmlns:a="http://schemas.openxmlformats.org/drawingml/2006/main" w="19050">
            <a:solidFill>
              <a:srgbClr val="087CC1"/>
            </a:solidFill>
            <a:prstDash val="solid"/>
          </a:ln>
        </p:spPr>
      </p:sp>
      <p:sp>
        <p:nvSpPr>
          <p:cNvPr id="6" name="">
            <a:extLst xmlns:a="http://schemas.openxmlformats.org/drawingml/2006/main">
              <a:ext uri="{FF2B5EF4-FFF2-40B4-BE49-F238E27FC236}">
                <a16:creationId xmlns:a16="http://schemas.microsoft.com/office/drawing/2014/main" id="{AACF3CBD-473B-4969-BC30-93DA060D2FF0}"/>
              </a:ext>
            </a:extLst>
          </p:cNvPr>
          <p:cNvSpPr>
            <a:spLocks xmlns:a="http://schemas.openxmlformats.org/drawingml/2006/main" noGrp="1"/>
          </p:cNvSpPr>
          <p:nvPr/>
        </p:nvSpPr>
        <p:spPr>
          <a:xfrm xmlns:a="http://schemas.openxmlformats.org/drawingml/2006/main">
            <a:off x="676275" y="2438400"/>
            <a:ext cx="1714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Approved file</a:t>
            </a:r>
          </a:p>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TXT, MD, DOCX, PDF</a:t>
            </a:r>
          </a:p>
        </p:txBody>
      </p:sp>
      <p:sp>
        <p:nvSpPr>
          <p:cNvPr id="7" name="">
            <a:extLst xmlns:a="http://schemas.openxmlformats.org/drawingml/2006/main">
              <a:ext uri="{FF2B5EF4-FFF2-40B4-BE49-F238E27FC236}">
                <a16:creationId xmlns:a16="http://schemas.microsoft.com/office/drawing/2014/main" id="{4B5EC7AE-3570-46F1-A8AF-ECC695F574B3}"/>
              </a:ext>
            </a:extLst>
          </p:cNvPr>
          <p:cNvSpPr>
            <a:spLocks xmlns:a="http://schemas.openxmlformats.org/drawingml/2006/main" noGrp="1"/>
          </p:cNvSpPr>
          <p:nvPr/>
        </p:nvSpPr>
        <p:spPr>
          <a:xfrm xmlns:a="http://schemas.openxmlformats.org/drawingml/2006/main">
            <a:off x="2895600" y="2362200"/>
            <a:ext cx="1924050" cy="1371600"/>
          </a:xfrm>
          <a:prstGeom xmlns:a="http://schemas.openxmlformats.org/drawingml/2006/main" prst="roundRect">
            <a:avLst>
              <a:gd name="adj" fmla="val 8333"/>
            </a:avLst>
          </a:prstGeom>
          <a:solidFill xmlns:a="http://schemas.openxmlformats.org/drawingml/2006/main">
            <a:srgbClr val="EAF6FC"/>
          </a:solidFill>
          <a:ln xmlns:a="http://schemas.openxmlformats.org/drawingml/2006/main" w="19050">
            <a:solidFill>
              <a:srgbClr val="087CC1"/>
            </a:solidFill>
            <a:prstDash val="solid"/>
          </a:ln>
        </p:spPr>
      </p:sp>
      <p:sp>
        <p:nvSpPr>
          <p:cNvPr id="8" name="">
            <a:extLst xmlns:a="http://schemas.openxmlformats.org/drawingml/2006/main">
              <a:ext uri="{FF2B5EF4-FFF2-40B4-BE49-F238E27FC236}">
                <a16:creationId xmlns:a16="http://schemas.microsoft.com/office/drawing/2014/main" id="{E13BDDCD-8AA7-4680-8EC6-AA3897AA0E4F}"/>
              </a:ext>
            </a:extLst>
          </p:cNvPr>
          <p:cNvSpPr>
            <a:spLocks xmlns:a="http://schemas.openxmlformats.org/drawingml/2006/main" noGrp="1"/>
          </p:cNvSpPr>
          <p:nvPr/>
        </p:nvSpPr>
        <p:spPr>
          <a:xfrm xmlns:a="http://schemas.openxmlformats.org/drawingml/2006/main">
            <a:off x="3000375" y="2438400"/>
            <a:ext cx="1714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Validate</a:t>
            </a:r>
          </a:p>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size, type, duplicate</a:t>
            </a:r>
          </a:p>
        </p:txBody>
      </p:sp>
      <p:cxnSp>
        <p:nvCxnSpPr>
          <p:cNvPr id="29" name=""/>
          <p:cNvCxnSpPr>
            <a:stCxn xmlns:a="http://schemas.openxmlformats.org/drawingml/2006/main" id="5" idx="3"/>
            <a:endCxn xmlns:a="http://schemas.openxmlformats.org/drawingml/2006/main" id="7" idx="1"/>
          </p:cNvCxnSpPr>
          <p:nvPr/>
        </p:nvCxnSpPr>
        <p:spPr>
          <a:xfrm xmlns:a="http://schemas.openxmlformats.org/drawingml/2006/main">
            <a:off x="2495550" y="3048000"/>
            <a:ext cx="400050" cy="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sp>
        <p:nvSpPr>
          <p:cNvPr id="10" name="">
            <a:extLst xmlns:a="http://schemas.openxmlformats.org/drawingml/2006/main">
              <a:ext uri="{FF2B5EF4-FFF2-40B4-BE49-F238E27FC236}">
                <a16:creationId xmlns:a16="http://schemas.microsoft.com/office/drawing/2014/main" id="{A231A408-9638-4256-947A-44347546F3D5}"/>
              </a:ext>
            </a:extLst>
          </p:cNvPr>
          <p:cNvSpPr>
            <a:spLocks xmlns:a="http://schemas.openxmlformats.org/drawingml/2006/main" noGrp="1"/>
          </p:cNvSpPr>
          <p:nvPr/>
        </p:nvSpPr>
        <p:spPr>
          <a:xfrm xmlns:a="http://schemas.openxmlformats.org/drawingml/2006/main">
            <a:off x="5219700" y="2362200"/>
            <a:ext cx="1924050" cy="1371600"/>
          </a:xfrm>
          <a:prstGeom xmlns:a="http://schemas.openxmlformats.org/drawingml/2006/main" prst="roundRect">
            <a:avLst>
              <a:gd name="adj" fmla="val 8333"/>
            </a:avLst>
          </a:prstGeom>
          <a:solidFill xmlns:a="http://schemas.openxmlformats.org/drawingml/2006/main">
            <a:srgbClr val="EAF6FC"/>
          </a:solidFill>
          <a:ln xmlns:a="http://schemas.openxmlformats.org/drawingml/2006/main" w="19050">
            <a:solidFill>
              <a:srgbClr val="087CC1"/>
            </a:solidFill>
            <a:prstDash val="solid"/>
          </a:ln>
        </p:spPr>
      </p:sp>
      <p:sp>
        <p:nvSpPr>
          <p:cNvPr id="11" name="">
            <a:extLst xmlns:a="http://schemas.openxmlformats.org/drawingml/2006/main">
              <a:ext uri="{FF2B5EF4-FFF2-40B4-BE49-F238E27FC236}">
                <a16:creationId xmlns:a16="http://schemas.microsoft.com/office/drawing/2014/main" id="{4C9013E9-4267-4851-92E3-FDFD120F0059}"/>
              </a:ext>
            </a:extLst>
          </p:cNvPr>
          <p:cNvSpPr>
            <a:spLocks xmlns:a="http://schemas.openxmlformats.org/drawingml/2006/main" noGrp="1"/>
          </p:cNvSpPr>
          <p:nvPr/>
        </p:nvSpPr>
        <p:spPr>
          <a:xfrm xmlns:a="http://schemas.openxmlformats.org/drawingml/2006/main">
            <a:off x="5324475" y="2438400"/>
            <a:ext cx="1714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Extract text</a:t>
            </a:r>
          </a:p>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sections and metadata</a:t>
            </a:r>
          </a:p>
        </p:txBody>
      </p: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4819650" y="3048000"/>
            <a:ext cx="400050" cy="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sp>
        <p:nvSpPr>
          <p:cNvPr id="13" name="">
            <a:extLst xmlns:a="http://schemas.openxmlformats.org/drawingml/2006/main">
              <a:ext uri="{FF2B5EF4-FFF2-40B4-BE49-F238E27FC236}">
                <a16:creationId xmlns:a16="http://schemas.microsoft.com/office/drawing/2014/main" id="{981866D2-CDD4-4C6A-9C7E-E63E66BC1B48}"/>
              </a:ext>
            </a:extLst>
          </p:cNvPr>
          <p:cNvSpPr>
            <a:spLocks xmlns:a="http://schemas.openxmlformats.org/drawingml/2006/main" noGrp="1"/>
          </p:cNvSpPr>
          <p:nvPr/>
        </p:nvSpPr>
        <p:spPr>
          <a:xfrm xmlns:a="http://schemas.openxmlformats.org/drawingml/2006/main">
            <a:off x="7543800" y="2362200"/>
            <a:ext cx="1924050" cy="1371600"/>
          </a:xfrm>
          <a:prstGeom xmlns:a="http://schemas.openxmlformats.org/drawingml/2006/main" prst="roundRect">
            <a:avLst>
              <a:gd name="adj" fmla="val 8333"/>
            </a:avLst>
          </a:prstGeom>
          <a:solidFill xmlns:a="http://schemas.openxmlformats.org/drawingml/2006/main">
            <a:srgbClr val="EAF6FC"/>
          </a:solidFill>
          <a:ln xmlns:a="http://schemas.openxmlformats.org/drawingml/2006/main" w="19050">
            <a:solidFill>
              <a:srgbClr val="087CC1"/>
            </a:solidFill>
            <a:prstDash val="solid"/>
          </a:ln>
        </p:spPr>
      </p:sp>
      <p:sp>
        <p:nvSpPr>
          <p:cNvPr id="14" name="">
            <a:extLst xmlns:a="http://schemas.openxmlformats.org/drawingml/2006/main">
              <a:ext uri="{FF2B5EF4-FFF2-40B4-BE49-F238E27FC236}">
                <a16:creationId xmlns:a16="http://schemas.microsoft.com/office/drawing/2014/main" id="{3B82EB75-3521-4E16-A2EF-5EC8CF444322}"/>
              </a:ext>
            </a:extLst>
          </p:cNvPr>
          <p:cNvSpPr>
            <a:spLocks xmlns:a="http://schemas.openxmlformats.org/drawingml/2006/main" noGrp="1"/>
          </p:cNvSpPr>
          <p:nvPr/>
        </p:nvSpPr>
        <p:spPr>
          <a:xfrm xmlns:a="http://schemas.openxmlformats.org/drawingml/2006/main">
            <a:off x="7648575" y="2438400"/>
            <a:ext cx="1714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Create chunks</a:t>
            </a:r>
          </a:p>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overlapping passages</a:t>
            </a:r>
          </a:p>
        </p:txBody>
      </p:sp>
      <p:cxnSp>
        <p:nvCxnSpPr>
          <p:cNvPr id="35" name=""/>
          <p:cNvCxnSpPr>
            <a:stCxn xmlns:a="http://schemas.openxmlformats.org/drawingml/2006/main" id="10" idx="3"/>
            <a:endCxn xmlns:a="http://schemas.openxmlformats.org/drawingml/2006/main" id="13" idx="1"/>
          </p:cNvCxnSpPr>
          <p:nvPr/>
        </p:nvCxnSpPr>
        <p:spPr>
          <a:xfrm xmlns:a="http://schemas.openxmlformats.org/drawingml/2006/main">
            <a:off x="7143750" y="3048000"/>
            <a:ext cx="400050" cy="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sp>
        <p:nvSpPr>
          <p:cNvPr id="16" name="">
            <a:extLst xmlns:a="http://schemas.openxmlformats.org/drawingml/2006/main">
              <a:ext uri="{FF2B5EF4-FFF2-40B4-BE49-F238E27FC236}">
                <a16:creationId xmlns:a16="http://schemas.microsoft.com/office/drawing/2014/main" id="{CB0D301F-48AA-4D82-8976-7C7157070A71}"/>
              </a:ext>
            </a:extLst>
          </p:cNvPr>
          <p:cNvSpPr>
            <a:spLocks xmlns:a="http://schemas.openxmlformats.org/drawingml/2006/main" noGrp="1"/>
          </p:cNvSpPr>
          <p:nvPr/>
        </p:nvSpPr>
        <p:spPr>
          <a:xfrm xmlns:a="http://schemas.openxmlformats.org/drawingml/2006/main">
            <a:off x="9867900" y="2362200"/>
            <a:ext cx="1924050" cy="1371600"/>
          </a:xfrm>
          <a:prstGeom xmlns:a="http://schemas.openxmlformats.org/drawingml/2006/main" prst="roundRect">
            <a:avLst>
              <a:gd name="adj" fmla="val 8333"/>
            </a:avLst>
          </a:prstGeom>
          <a:solidFill xmlns:a="http://schemas.openxmlformats.org/drawingml/2006/main">
            <a:srgbClr val="EAF6FC"/>
          </a:solidFill>
          <a:ln xmlns:a="http://schemas.openxmlformats.org/drawingml/2006/main" w="19050">
            <a:solidFill>
              <a:srgbClr val="087CC1"/>
            </a:solidFill>
            <a:prstDash val="solid"/>
          </a:ln>
        </p:spPr>
      </p:sp>
      <p:sp>
        <p:nvSpPr>
          <p:cNvPr id="17" name="">
            <a:extLst xmlns:a="http://schemas.openxmlformats.org/drawingml/2006/main">
              <a:ext uri="{FF2B5EF4-FFF2-40B4-BE49-F238E27FC236}">
                <a16:creationId xmlns:a16="http://schemas.microsoft.com/office/drawing/2014/main" id="{97F67BD4-CFD0-47B2-B72C-FC203E341F14}"/>
              </a:ext>
            </a:extLst>
          </p:cNvPr>
          <p:cNvSpPr>
            <a:spLocks xmlns:a="http://schemas.openxmlformats.org/drawingml/2006/main" noGrp="1"/>
          </p:cNvSpPr>
          <p:nvPr/>
        </p:nvSpPr>
        <p:spPr>
          <a:xfrm xmlns:a="http://schemas.openxmlformats.org/drawingml/2006/main">
            <a:off x="9972675" y="2438400"/>
            <a:ext cx="1714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Index</a:t>
            </a:r>
          </a:p>
          <a:p xmlns:a="http://schemas.openxmlformats.org/drawingml/2006/main">
            <a:pPr algn="ctr">
              <a:defRPr sz="1650" b="1">
                <a:solidFill>
                  <a:srgbClr val="062B54"/>
                </a:solidFill>
                <a:latin typeface="Arial"/>
                <a:ea typeface="Arial"/>
                <a:cs typeface="Arial"/>
              </a:defRPr>
            </a:pPr>
            <a:r>
              <a:rPr sz="1650" b="1">
                <a:solidFill>
                  <a:srgbClr val="062B54"/>
                </a:solidFill>
                <a:latin typeface="Arial"/>
                <a:ea typeface="Arial"/>
                <a:cs typeface="Arial"/>
              </a:rPr>
              <a:t>FTS5 + lexical vectors</a:t>
            </a:r>
          </a:p>
        </p:txBody>
      </p:sp>
      <p:cxnSp>
        <p:nvCxnSpPr>
          <p:cNvPr id="38" name=""/>
          <p:cNvCxnSpPr>
            <a:stCxn xmlns:a="http://schemas.openxmlformats.org/drawingml/2006/main" id="13" idx="3"/>
            <a:endCxn xmlns:a="http://schemas.openxmlformats.org/drawingml/2006/main" id="16" idx="1"/>
          </p:cNvCxnSpPr>
          <p:nvPr/>
        </p:nvCxnSpPr>
        <p:spPr>
          <a:xfrm xmlns:a="http://schemas.openxmlformats.org/drawingml/2006/main">
            <a:off x="9467850" y="3048000"/>
            <a:ext cx="400050" cy="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sp>
        <p:nvSpPr>
          <p:cNvPr id="19" name="">
            <a:extLst xmlns:a="http://schemas.openxmlformats.org/drawingml/2006/main">
              <a:ext uri="{FF2B5EF4-FFF2-40B4-BE49-F238E27FC236}">
                <a16:creationId xmlns:a16="http://schemas.microsoft.com/office/drawing/2014/main" id="{6F4678AE-93C0-434A-AC2B-01072F5FDA62}"/>
              </a:ext>
            </a:extLst>
          </p:cNvPr>
          <p:cNvSpPr>
            <a:spLocks xmlns:a="http://schemas.openxmlformats.org/drawingml/2006/main" noGrp="1"/>
          </p:cNvSpPr>
          <p:nvPr/>
        </p:nvSpPr>
        <p:spPr>
          <a:xfrm xmlns:a="http://schemas.openxmlformats.org/drawingml/2006/main">
            <a:off x="704850" y="46386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5344D"/>
                </a:solidFill>
                <a:latin typeface="Arial"/>
                <a:ea typeface="Arial"/>
                <a:cs typeface="Arial"/>
              </a:defRPr>
            </a:pPr>
            <a:r>
              <a:rPr sz="2100" b="1">
                <a:solidFill>
                  <a:srgbClr val="15344D"/>
                </a:solidFill>
                <a:latin typeface="Arial"/>
                <a:ea typeface="Arial"/>
                <a:cs typeface="Arial"/>
              </a:rPr>
              <a:t>Each chunk keeps its document, section, owner, department, classification and effective dates.</a:t>
            </a:r>
          </a:p>
        </p:txBody>
      </p:sp>
      <p:sp>
        <p:nvSpPr>
          <p:cNvPr id="20" name="">
            <a:extLst xmlns:a="http://schemas.openxmlformats.org/drawingml/2006/main">
              <a:ext uri="{FF2B5EF4-FFF2-40B4-BE49-F238E27FC236}">
                <a16:creationId xmlns:a16="http://schemas.microsoft.com/office/drawing/2014/main" id="{3F84AD28-5D96-4366-BD37-0FBAD36A0A98}"/>
              </a:ext>
            </a:extLst>
          </p:cNvPr>
          <p:cNvSpPr>
            <a:spLocks xmlns:a="http://schemas.openxmlformats.org/drawingml/2006/main" noGrp="1"/>
          </p:cNvSpPr>
          <p:nvPr/>
        </p:nvSpPr>
        <p:spPr>
          <a:xfrm xmlns:a="http://schemas.openxmlformats.org/drawingml/2006/main">
            <a:off x="819150" y="55245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5C7184"/>
                </a:solidFill>
                <a:latin typeface="Arial"/>
                <a:ea typeface="Arial"/>
                <a:cs typeface="Arial"/>
              </a:defRPr>
            </a:pPr>
            <a:r>
              <a:rPr sz="1725" b="0">
                <a:solidFill>
                  <a:srgbClr val="5C7184"/>
                </a:solidFill>
                <a:latin typeface="Arial"/>
                <a:ea typeface="Arial"/>
                <a:cs typeface="Arial"/>
              </a:rPr>
              <a:t>Why it matters: retrieval can point to a specific passage and reject content that is stale or out of scope.</a:t>
            </a:r>
          </a:p>
        </p:txBody>
      </p:sp>
    </p:spTree>
    <p:extLst>
      <p:ext uri="{BB962C8B-B14F-4D97-AF65-F5344CB8AC3E}">
        <p14:creationId xmlns:p14="http://schemas.microsoft.com/office/powerpoint/2010/main" val="6551228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C75C0E2-9C5B-4FA0-B37D-F3D89E20A52A}"/>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Question-to-answer pipeline</a:t>
            </a:r>
          </a:p>
        </p:txBody>
      </p:sp>
      <p:sp>
        <p:nvSpPr>
          <p:cNvPr id="2" name="">
            <a:extLst xmlns:a="http://schemas.openxmlformats.org/drawingml/2006/main">
              <a:ext uri="{FF2B5EF4-FFF2-40B4-BE49-F238E27FC236}">
                <a16:creationId xmlns:a16="http://schemas.microsoft.com/office/drawing/2014/main" id="{A311578E-C044-4BDD-AFEB-CCFE8C317687}"/>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F33E6D09-BD8C-41A2-A6EB-E1223535210C}"/>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EE2F2522-D8BF-41EE-92A9-00957485C34D}"/>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2FF6F6F8-8430-4E11-B53B-690731893901}"/>
              </a:ext>
            </a:extLst>
          </p:cNvPr>
          <p:cNvSpPr>
            <a:spLocks xmlns:a="http://schemas.openxmlformats.org/drawingml/2006/main" noGrp="1"/>
          </p:cNvSpPr>
          <p:nvPr/>
        </p:nvSpPr>
        <p:spPr>
          <a:xfrm xmlns:a="http://schemas.openxmlformats.org/drawingml/2006/main">
            <a:off x="647700" y="1809750"/>
            <a:ext cx="1905000" cy="876300"/>
          </a:xfrm>
          <a:prstGeom xmlns:a="http://schemas.openxmlformats.org/drawingml/2006/main" prst="roundRect">
            <a:avLst>
              <a:gd name="adj" fmla="val 13043"/>
            </a:avLst>
          </a:prstGeom>
          <a:solidFill xmlns:a="http://schemas.openxmlformats.org/drawingml/2006/main">
            <a:srgbClr val="EAF6FC"/>
          </a:solidFill>
          <a:ln xmlns:a="http://schemas.openxmlformats.org/drawingml/2006/main" w="19050">
            <a:solidFill>
              <a:srgbClr val="087CC1"/>
            </a:solidFill>
            <a:prstDash val="solid"/>
          </a:ln>
        </p:spPr>
      </p:sp>
      <p:sp>
        <p:nvSpPr>
          <p:cNvPr id="6" name="">
            <a:extLst xmlns:a="http://schemas.openxmlformats.org/drawingml/2006/main">
              <a:ext uri="{FF2B5EF4-FFF2-40B4-BE49-F238E27FC236}">
                <a16:creationId xmlns:a16="http://schemas.microsoft.com/office/drawing/2014/main" id="{10208AB8-364A-4133-9717-3E34D3B31E95}"/>
              </a:ext>
            </a:extLst>
          </p:cNvPr>
          <p:cNvSpPr>
            <a:spLocks xmlns:a="http://schemas.openxmlformats.org/drawingml/2006/main" noGrp="1"/>
          </p:cNvSpPr>
          <p:nvPr/>
        </p:nvSpPr>
        <p:spPr>
          <a:xfrm xmlns:a="http://schemas.openxmlformats.org/drawingml/2006/main">
            <a:off x="752475" y="1885950"/>
            <a:ext cx="1695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Employee</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D27B5BAB-1756-43D5-88EB-E7B2BB3CB3FB}"/>
              </a:ext>
            </a:extLst>
          </p:cNvPr>
          <p:cNvSpPr>
            <a:spLocks xmlns:a="http://schemas.openxmlformats.org/drawingml/2006/main" noGrp="1"/>
          </p:cNvSpPr>
          <p:nvPr/>
        </p:nvSpPr>
        <p:spPr>
          <a:xfrm xmlns:a="http://schemas.openxmlformats.org/drawingml/2006/main">
            <a:off x="3219450" y="1809750"/>
            <a:ext cx="1905000" cy="876300"/>
          </a:xfrm>
          <a:prstGeom xmlns:a="http://schemas.openxmlformats.org/drawingml/2006/main" prst="roundRect">
            <a:avLst>
              <a:gd name="adj" fmla="val 13043"/>
            </a:avLst>
          </a:prstGeom>
          <a:solidFill xmlns:a="http://schemas.openxmlformats.org/drawingml/2006/main">
            <a:srgbClr val="EAF6FC"/>
          </a:solidFill>
          <a:ln xmlns:a="http://schemas.openxmlformats.org/drawingml/2006/main" w="19050">
            <a:solidFill>
              <a:srgbClr val="087CC1"/>
            </a:solidFill>
            <a:prstDash val="solid"/>
          </a:ln>
        </p:spPr>
      </p:sp>
      <p:sp>
        <p:nvSpPr>
          <p:cNvPr id="8" name="">
            <a:extLst xmlns:a="http://schemas.openxmlformats.org/drawingml/2006/main">
              <a:ext uri="{FF2B5EF4-FFF2-40B4-BE49-F238E27FC236}">
                <a16:creationId xmlns:a16="http://schemas.microsoft.com/office/drawing/2014/main" id="{4836AEFD-FA22-46BE-B057-0F733F022465}"/>
              </a:ext>
            </a:extLst>
          </p:cNvPr>
          <p:cNvSpPr>
            <a:spLocks xmlns:a="http://schemas.openxmlformats.org/drawingml/2006/main" noGrp="1"/>
          </p:cNvSpPr>
          <p:nvPr/>
        </p:nvSpPr>
        <p:spPr>
          <a:xfrm xmlns:a="http://schemas.openxmlformats.org/drawingml/2006/main">
            <a:off x="3324225" y="1885950"/>
            <a:ext cx="1695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Classify</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department</a:t>
            </a:r>
          </a:p>
        </p:txBody>
      </p:sp>
      <p:sp>
        <p:nvSpPr>
          <p:cNvPr id="9" name="">
            <a:extLst xmlns:a="http://schemas.openxmlformats.org/drawingml/2006/main">
              <a:ext uri="{FF2B5EF4-FFF2-40B4-BE49-F238E27FC236}">
                <a16:creationId xmlns:a16="http://schemas.microsoft.com/office/drawing/2014/main" id="{F374042C-296E-4C59-B76E-C3F6EC08AEA5}"/>
              </a:ext>
            </a:extLst>
          </p:cNvPr>
          <p:cNvSpPr>
            <a:spLocks xmlns:a="http://schemas.openxmlformats.org/drawingml/2006/main" noGrp="1"/>
          </p:cNvSpPr>
          <p:nvPr/>
        </p:nvSpPr>
        <p:spPr>
          <a:xfrm xmlns:a="http://schemas.openxmlformats.org/drawingml/2006/main">
            <a:off x="5791200" y="1809750"/>
            <a:ext cx="1905000" cy="876300"/>
          </a:xfrm>
          <a:prstGeom xmlns:a="http://schemas.openxmlformats.org/drawingml/2006/main" prst="roundRect">
            <a:avLst>
              <a:gd name="adj" fmla="val 13043"/>
            </a:avLst>
          </a:prstGeom>
          <a:solidFill xmlns:a="http://schemas.openxmlformats.org/drawingml/2006/main">
            <a:srgbClr val="EAF6FC"/>
          </a:solidFill>
          <a:ln xmlns:a="http://schemas.openxmlformats.org/drawingml/2006/main" w="19050">
            <a:solidFill>
              <a:srgbClr val="087CC1"/>
            </a:solidFill>
            <a:prstDash val="solid"/>
          </a:ln>
        </p:spPr>
      </p:sp>
      <p:sp>
        <p:nvSpPr>
          <p:cNvPr id="10" name="">
            <a:extLst xmlns:a="http://schemas.openxmlformats.org/drawingml/2006/main">
              <a:ext uri="{FF2B5EF4-FFF2-40B4-BE49-F238E27FC236}">
                <a16:creationId xmlns:a16="http://schemas.microsoft.com/office/drawing/2014/main" id="{A4380221-03DF-4A79-979E-AA5E65A70F21}"/>
              </a:ext>
            </a:extLst>
          </p:cNvPr>
          <p:cNvSpPr>
            <a:spLocks xmlns:a="http://schemas.openxmlformats.org/drawingml/2006/main" noGrp="1"/>
          </p:cNvSpPr>
          <p:nvPr/>
        </p:nvSpPr>
        <p:spPr>
          <a:xfrm xmlns:a="http://schemas.openxmlformats.org/drawingml/2006/main">
            <a:off x="5895975" y="1885950"/>
            <a:ext cx="1695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Search</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MCP or local</a:t>
            </a:r>
          </a:p>
        </p:txBody>
      </p:sp>
      <p:sp>
        <p:nvSpPr>
          <p:cNvPr id="11" name="">
            <a:extLst xmlns:a="http://schemas.openxmlformats.org/drawingml/2006/main">
              <a:ext uri="{FF2B5EF4-FFF2-40B4-BE49-F238E27FC236}">
                <a16:creationId xmlns:a16="http://schemas.microsoft.com/office/drawing/2014/main" id="{5334C47C-E1B7-42A1-9E32-2A494492CF13}"/>
              </a:ext>
            </a:extLst>
          </p:cNvPr>
          <p:cNvSpPr>
            <a:spLocks xmlns:a="http://schemas.openxmlformats.org/drawingml/2006/main" noGrp="1"/>
          </p:cNvSpPr>
          <p:nvPr/>
        </p:nvSpPr>
        <p:spPr>
          <a:xfrm xmlns:a="http://schemas.openxmlformats.org/drawingml/2006/main">
            <a:off x="8362950" y="1809750"/>
            <a:ext cx="2571750" cy="876300"/>
          </a:xfrm>
          <a:prstGeom xmlns:a="http://schemas.openxmlformats.org/drawingml/2006/main" prst="roundRect">
            <a:avLst>
              <a:gd name="adj" fmla="val 13043"/>
            </a:avLst>
          </a:prstGeom>
          <a:solidFill xmlns:a="http://schemas.openxmlformats.org/drawingml/2006/main">
            <a:srgbClr val="EAF6FC"/>
          </a:solidFill>
          <a:ln xmlns:a="http://schemas.openxmlformats.org/drawingml/2006/main" w="19050">
            <a:solidFill>
              <a:srgbClr val="087CC1"/>
            </a:solidFill>
            <a:prstDash val="solid"/>
          </a:ln>
        </p:spPr>
      </p:sp>
      <p:sp>
        <p:nvSpPr>
          <p:cNvPr id="12" name="">
            <a:extLst xmlns:a="http://schemas.openxmlformats.org/drawingml/2006/main">
              <a:ext uri="{FF2B5EF4-FFF2-40B4-BE49-F238E27FC236}">
                <a16:creationId xmlns:a16="http://schemas.microsoft.com/office/drawing/2014/main" id="{32EFB2B6-3799-4DCB-BC5E-42B6D77A8BBB}"/>
              </a:ext>
            </a:extLst>
          </p:cNvPr>
          <p:cNvSpPr>
            <a:spLocks xmlns:a="http://schemas.openxmlformats.org/drawingml/2006/main" noGrp="1"/>
          </p:cNvSpPr>
          <p:nvPr/>
        </p:nvSpPr>
        <p:spPr>
          <a:xfrm xmlns:a="http://schemas.openxmlformats.org/drawingml/2006/main">
            <a:off x="8467725" y="1885950"/>
            <a:ext cx="2362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Filter</a:t>
            </a:r>
          </a:p>
          <a:p xmlns:a="http://schemas.openxmlformats.org/drawingml/2006/main">
            <a:pPr algn="ctr">
              <a:defRPr sz="1725" b="1">
                <a:solidFill>
                  <a:srgbClr val="062B54"/>
                </a:solidFill>
                <a:latin typeface="Arial"/>
                <a:ea typeface="Arial"/>
                <a:cs typeface="Arial"/>
              </a:defRPr>
            </a:pPr>
            <a:r>
              <a:rPr sz="1725" b="1">
                <a:solidFill>
                  <a:srgbClr val="062B54"/>
                </a:solidFill>
                <a:latin typeface="Arial"/>
                <a:ea typeface="Arial"/>
                <a:cs typeface="Arial"/>
              </a:rPr>
              <a:t>access + expiry</a:t>
            </a:r>
          </a:p>
        </p:txBody>
      </p:sp>
      <p:cxnSp>
        <p:nvCxnSpPr>
          <p:cNvPr id="38" name=""/>
          <p:cNvCxnSpPr>
            <a:stCxn xmlns:a="http://schemas.openxmlformats.org/drawingml/2006/main" id="5" idx="3"/>
            <a:endCxn xmlns:a="http://schemas.openxmlformats.org/drawingml/2006/main" id="7" idx="1"/>
          </p:cNvCxnSpPr>
          <p:nvPr/>
        </p:nvCxnSpPr>
        <p:spPr>
          <a:xfrm xmlns:a="http://schemas.openxmlformats.org/drawingml/2006/main">
            <a:off x="2552700" y="2247900"/>
            <a:ext cx="666750" cy="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5124450" y="2247900"/>
            <a:ext cx="666750" cy="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0" name=""/>
          <p:cNvCxnSpPr>
            <a:stCxn xmlns:a="http://schemas.openxmlformats.org/drawingml/2006/main" id="9" idx="3"/>
            <a:endCxn xmlns:a="http://schemas.openxmlformats.org/drawingml/2006/main" id="11" idx="1"/>
          </p:cNvCxnSpPr>
          <p:nvPr/>
        </p:nvCxnSpPr>
        <p:spPr>
          <a:xfrm xmlns:a="http://schemas.openxmlformats.org/drawingml/2006/main">
            <a:off x="7696200" y="2247900"/>
            <a:ext cx="666750" cy="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sp>
        <p:nvSpPr>
          <p:cNvPr id="16" name="">
            <a:extLst xmlns:a="http://schemas.openxmlformats.org/drawingml/2006/main">
              <a:ext uri="{FF2B5EF4-FFF2-40B4-BE49-F238E27FC236}">
                <a16:creationId xmlns:a16="http://schemas.microsoft.com/office/drawing/2014/main" id="{976AF78D-8DBC-4DAC-9F08-67413EFF9BDE}"/>
              </a:ext>
            </a:extLst>
          </p:cNvPr>
          <p:cNvSpPr>
            <a:spLocks xmlns:a="http://schemas.openxmlformats.org/drawingml/2006/main" noGrp="1"/>
          </p:cNvSpPr>
          <p:nvPr/>
        </p:nvSpPr>
        <p:spPr>
          <a:xfrm xmlns:a="http://schemas.openxmlformats.org/drawingml/2006/main">
            <a:off x="4276725" y="3838575"/>
            <a:ext cx="2457450" cy="876300"/>
          </a:xfrm>
          <a:prstGeom xmlns:a="http://schemas.openxmlformats.org/drawingml/2006/main" prst="roundRect">
            <a:avLst>
              <a:gd name="adj" fmla="val 13043"/>
            </a:avLst>
          </a:prstGeom>
          <a:solidFill xmlns:a="http://schemas.openxmlformats.org/drawingml/2006/main">
            <a:srgbClr val="FFF4E5"/>
          </a:solidFill>
          <a:ln xmlns:a="http://schemas.openxmlformats.org/drawingml/2006/main" w="19050">
            <a:solidFill>
              <a:srgbClr val="A96510"/>
            </a:solidFill>
            <a:prstDash val="solid"/>
          </a:ln>
        </p:spPr>
      </p:sp>
      <p:sp>
        <p:nvSpPr>
          <p:cNvPr id="17" name="">
            <a:extLst xmlns:a="http://schemas.openxmlformats.org/drawingml/2006/main">
              <a:ext uri="{FF2B5EF4-FFF2-40B4-BE49-F238E27FC236}">
                <a16:creationId xmlns:a16="http://schemas.microsoft.com/office/drawing/2014/main" id="{FB2733C9-276A-4C7B-9119-2ED644DB597F}"/>
              </a:ext>
            </a:extLst>
          </p:cNvPr>
          <p:cNvSpPr>
            <a:spLocks xmlns:a="http://schemas.openxmlformats.org/drawingml/2006/main" noGrp="1"/>
          </p:cNvSpPr>
          <p:nvPr/>
        </p:nvSpPr>
        <p:spPr>
          <a:xfrm xmlns:a="http://schemas.openxmlformats.org/drawingml/2006/main">
            <a:off x="4381500" y="3914775"/>
            <a:ext cx="2247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344D"/>
                </a:solidFill>
                <a:latin typeface="Arial"/>
                <a:ea typeface="Arial"/>
                <a:cs typeface="Arial"/>
              </a:defRPr>
            </a:pPr>
            <a:r>
              <a:rPr sz="1725" b="1">
                <a:solidFill>
                  <a:srgbClr val="15344D"/>
                </a:solidFill>
                <a:latin typeface="Arial"/>
                <a:ea typeface="Arial"/>
                <a:cs typeface="Arial"/>
              </a:rPr>
              <a:t>Evidence sufficient?</a:t>
            </a:r>
          </a:p>
        </p:txBody>
      </p:sp>
      <p:sp>
        <p:nvSpPr>
          <p:cNvPr id="18" name="">
            <a:extLst xmlns:a="http://schemas.openxmlformats.org/drawingml/2006/main">
              <a:ext uri="{FF2B5EF4-FFF2-40B4-BE49-F238E27FC236}">
                <a16:creationId xmlns:a16="http://schemas.microsoft.com/office/drawing/2014/main" id="{B86E4245-E1AF-40CE-B284-613FBA8D45A9}"/>
              </a:ext>
            </a:extLst>
          </p:cNvPr>
          <p:cNvSpPr>
            <a:spLocks xmlns:a="http://schemas.openxmlformats.org/drawingml/2006/main" noGrp="1"/>
          </p:cNvSpPr>
          <p:nvPr/>
        </p:nvSpPr>
        <p:spPr>
          <a:xfrm xmlns:a="http://schemas.openxmlformats.org/drawingml/2006/main">
            <a:off x="7610475" y="4105275"/>
            <a:ext cx="3038475" cy="1066800"/>
          </a:xfrm>
          <a:prstGeom xmlns:a="http://schemas.openxmlformats.org/drawingml/2006/main" prst="roundRect">
            <a:avLst>
              <a:gd name="adj" fmla="val 10714"/>
            </a:avLst>
          </a:prstGeom>
          <a:solidFill xmlns:a="http://schemas.openxmlformats.org/drawingml/2006/main">
            <a:srgbClr val="E6F6F1"/>
          </a:solidFill>
          <a:ln xmlns:a="http://schemas.openxmlformats.org/drawingml/2006/main" w="19050">
            <a:solidFill>
              <a:srgbClr val="147C70"/>
            </a:solidFill>
            <a:prstDash val="solid"/>
          </a:ln>
        </p:spPr>
      </p:sp>
      <p:sp>
        <p:nvSpPr>
          <p:cNvPr id="19" name="">
            <a:extLst xmlns:a="http://schemas.openxmlformats.org/drawingml/2006/main">
              <a:ext uri="{FF2B5EF4-FFF2-40B4-BE49-F238E27FC236}">
                <a16:creationId xmlns:a16="http://schemas.microsoft.com/office/drawing/2014/main" id="{A8940EBD-2BDB-472F-87A1-4A2C93A06832}"/>
              </a:ext>
            </a:extLst>
          </p:cNvPr>
          <p:cNvSpPr>
            <a:spLocks xmlns:a="http://schemas.openxmlformats.org/drawingml/2006/main" noGrp="1"/>
          </p:cNvSpPr>
          <p:nvPr/>
        </p:nvSpPr>
        <p:spPr>
          <a:xfrm xmlns:a="http://schemas.openxmlformats.org/drawingml/2006/main">
            <a:off x="7715250" y="4181475"/>
            <a:ext cx="2828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344D"/>
                </a:solidFill>
                <a:latin typeface="Arial"/>
                <a:ea typeface="Arial"/>
                <a:cs typeface="Arial"/>
              </a:defRPr>
            </a:pPr>
            <a:r>
              <a:rPr sz="1725" b="1">
                <a:solidFill>
                  <a:srgbClr val="15344D"/>
                </a:solidFill>
                <a:latin typeface="Arial"/>
                <a:ea typeface="Arial"/>
                <a:cs typeface="Arial"/>
              </a:rPr>
              <a:t>Cited answer</a:t>
            </a:r>
          </a:p>
          <a:p xmlns:a="http://schemas.openxmlformats.org/drawingml/2006/main">
            <a:pPr algn="ctr">
              <a:defRPr sz="1725" b="1">
                <a:solidFill>
                  <a:srgbClr val="15344D"/>
                </a:solidFill>
                <a:latin typeface="Arial"/>
                <a:ea typeface="Arial"/>
                <a:cs typeface="Arial"/>
              </a:defRPr>
            </a:pPr>
            <a:r>
              <a:rPr sz="1725" b="1">
                <a:solidFill>
                  <a:srgbClr val="15344D"/>
                </a:solidFill>
                <a:latin typeface="Arial"/>
                <a:ea typeface="Arial"/>
                <a:cs typeface="Arial"/>
              </a:rPr>
              <a:t>+ source preview</a:t>
            </a:r>
          </a:p>
        </p:txBody>
      </p:sp>
      <p:sp>
        <p:nvSpPr>
          <p:cNvPr id="20" name="">
            <a:extLst xmlns:a="http://schemas.openxmlformats.org/drawingml/2006/main">
              <a:ext uri="{FF2B5EF4-FFF2-40B4-BE49-F238E27FC236}">
                <a16:creationId xmlns:a16="http://schemas.microsoft.com/office/drawing/2014/main" id="{E9A0684A-0DE9-4CB1-A505-154906A29D81}"/>
              </a:ext>
            </a:extLst>
          </p:cNvPr>
          <p:cNvSpPr>
            <a:spLocks xmlns:a="http://schemas.openxmlformats.org/drawingml/2006/main" noGrp="1"/>
          </p:cNvSpPr>
          <p:nvPr/>
        </p:nvSpPr>
        <p:spPr>
          <a:xfrm xmlns:a="http://schemas.openxmlformats.org/drawingml/2006/main">
            <a:off x="828675" y="4105275"/>
            <a:ext cx="2819400" cy="1066800"/>
          </a:xfrm>
          <a:prstGeom xmlns:a="http://schemas.openxmlformats.org/drawingml/2006/main" prst="roundRect">
            <a:avLst>
              <a:gd name="adj" fmla="val 10714"/>
            </a:avLst>
          </a:prstGeom>
          <a:solidFill xmlns:a="http://schemas.openxmlformats.org/drawingml/2006/main">
            <a:srgbClr val="FFF5EA"/>
          </a:solidFill>
          <a:ln xmlns:a="http://schemas.openxmlformats.org/drawingml/2006/main" w="19050">
            <a:solidFill>
              <a:srgbClr val="A96510"/>
            </a:solidFill>
            <a:prstDash val="solid"/>
          </a:ln>
        </p:spPr>
      </p:sp>
      <p:sp>
        <p:nvSpPr>
          <p:cNvPr id="21" name="">
            <a:extLst xmlns:a="http://schemas.openxmlformats.org/drawingml/2006/main">
              <a:ext uri="{FF2B5EF4-FFF2-40B4-BE49-F238E27FC236}">
                <a16:creationId xmlns:a16="http://schemas.microsoft.com/office/drawing/2014/main" id="{310605CD-C4FA-4C33-BDBC-5483CB42AA6D}"/>
              </a:ext>
            </a:extLst>
          </p:cNvPr>
          <p:cNvSpPr>
            <a:spLocks xmlns:a="http://schemas.openxmlformats.org/drawingml/2006/main" noGrp="1"/>
          </p:cNvSpPr>
          <p:nvPr/>
        </p:nvSpPr>
        <p:spPr>
          <a:xfrm xmlns:a="http://schemas.openxmlformats.org/drawingml/2006/main">
            <a:off x="933450" y="4181475"/>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344D"/>
                </a:solidFill>
                <a:latin typeface="Arial"/>
                <a:ea typeface="Arial"/>
                <a:cs typeface="Arial"/>
              </a:defRPr>
            </a:pPr>
            <a:r>
              <a:rPr sz="1725" b="1">
                <a:solidFill>
                  <a:srgbClr val="15344D"/>
                </a:solidFill>
                <a:latin typeface="Arial"/>
                <a:ea typeface="Arial"/>
                <a:cs typeface="Arial"/>
              </a:rPr>
              <a:t>Safe no-answer</a:t>
            </a:r>
          </a:p>
          <a:p xmlns:a="http://schemas.openxmlformats.org/drawingml/2006/main">
            <a:pPr algn="ctr">
              <a:defRPr sz="1725" b="1">
                <a:solidFill>
                  <a:srgbClr val="15344D"/>
                </a:solidFill>
                <a:latin typeface="Arial"/>
                <a:ea typeface="Arial"/>
                <a:cs typeface="Arial"/>
              </a:defRPr>
            </a:pPr>
            <a:r>
              <a:rPr sz="1725" b="1">
                <a:solidFill>
                  <a:srgbClr val="15344D"/>
                </a:solidFill>
                <a:latin typeface="Arial"/>
                <a:ea typeface="Arial"/>
                <a:cs typeface="Arial"/>
              </a:rPr>
              <a:t>+ knowledge gap</a:t>
            </a:r>
          </a:p>
        </p:txBody>
      </p:sp>
      <p:cxnSp>
        <p:nvCxnSpPr>
          <p:cNvPr id="47" name=""/>
          <p:cNvCxnSpPr>
            <a:stCxn xmlns:a="http://schemas.openxmlformats.org/drawingml/2006/main" id="11" idx="2"/>
            <a:endCxn xmlns:a="http://schemas.openxmlformats.org/drawingml/2006/main" id="16" idx="0"/>
          </p:cNvCxnSpPr>
          <p:nvPr/>
        </p:nvCxnSpPr>
        <p:spPr>
          <a:xfrm xmlns:a="http://schemas.openxmlformats.org/drawingml/2006/main" flipH="1">
            <a:off x="5505450" y="2686050"/>
            <a:ext cx="4143375" cy="1152525"/>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8" name=""/>
          <p:cNvCxnSpPr>
            <a:stCxn xmlns:a="http://schemas.openxmlformats.org/drawingml/2006/main" id="16" idx="3"/>
            <a:endCxn xmlns:a="http://schemas.openxmlformats.org/drawingml/2006/main" id="18" idx="1"/>
          </p:cNvCxnSpPr>
          <p:nvPr/>
        </p:nvCxnSpPr>
        <p:spPr>
          <a:xfrm xmlns:a="http://schemas.openxmlformats.org/drawingml/2006/main">
            <a:off x="6734175" y="4276725"/>
            <a:ext cx="876300" cy="36195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cxnSp>
        <p:nvCxnSpPr>
          <p:cNvPr id="49" name=""/>
          <p:cNvCxnSpPr>
            <a:stCxn xmlns:a="http://schemas.openxmlformats.org/drawingml/2006/main" id="16" idx="1"/>
            <a:endCxn xmlns:a="http://schemas.openxmlformats.org/drawingml/2006/main" id="20" idx="3"/>
          </p:cNvCxnSpPr>
          <p:nvPr/>
        </p:nvCxnSpPr>
        <p:spPr>
          <a:xfrm xmlns:a="http://schemas.openxmlformats.org/drawingml/2006/main" flipH="1">
            <a:off x="3648075" y="4276725"/>
            <a:ext cx="628650" cy="361950"/>
          </a:xfrm>
          <a:prstGeom xmlns:a="http://schemas.openxmlformats.org/drawingml/2006/main" prst="straightConnector1">
            <a:avLst/>
          </a:prstGeom>
          <a:ln xmlns:a="http://schemas.openxmlformats.org/drawingml/2006/main" w="23813">
            <a:solidFill>
              <a:srgbClr val="087CC1"/>
            </a:solidFill>
            <a:prstDash val="solid"/>
            <a:tailEnd type="triangle" w="sm" len="sm"/>
          </a:ln>
        </p:spPr>
      </p:cxnSp>
      <p:sp>
        <p:nvSpPr>
          <p:cNvPr id="25" name="">
            <a:extLst xmlns:a="http://schemas.openxmlformats.org/drawingml/2006/main">
              <a:ext uri="{FF2B5EF4-FFF2-40B4-BE49-F238E27FC236}">
                <a16:creationId xmlns:a16="http://schemas.microsoft.com/office/drawing/2014/main" id="{EC2974D5-93C5-4DEA-906B-AF60607741FA}"/>
              </a:ext>
            </a:extLst>
          </p:cNvPr>
          <p:cNvSpPr>
            <a:spLocks xmlns:a="http://schemas.openxmlformats.org/drawingml/2006/main" noGrp="1"/>
          </p:cNvSpPr>
          <p:nvPr/>
        </p:nvSpPr>
        <p:spPr>
          <a:xfrm xmlns:a="http://schemas.openxmlformats.org/drawingml/2006/main">
            <a:off x="704850" y="55816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5C7184"/>
                </a:solidFill>
                <a:latin typeface="Arial"/>
                <a:ea typeface="Arial"/>
                <a:cs typeface="Arial"/>
              </a:defRPr>
            </a:pPr>
            <a:r>
              <a:rPr sz="1800" b="0">
                <a:solidFill>
                  <a:srgbClr val="5C7184"/>
                </a:solidFill>
                <a:latin typeface="Arial"/>
                <a:ea typeface="Arial"/>
                <a:cs typeface="Arial"/>
              </a:rPr>
              <a:t>Optional Gemini writes from permitted passages. Otherwise the app extracts cited sentences.</a:t>
            </a:r>
          </a:p>
        </p:txBody>
      </p:sp>
    </p:spTree>
    <p:extLst>
      <p:ext uri="{BB962C8B-B14F-4D97-AF65-F5344CB8AC3E}">
        <p14:creationId xmlns:p14="http://schemas.microsoft.com/office/powerpoint/2010/main" val="11948976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B76CE1-3D03-4D6B-ACFF-B70BD4B15477}"/>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Access control in action</a:t>
            </a:r>
          </a:p>
        </p:txBody>
      </p:sp>
      <p:sp>
        <p:nvSpPr>
          <p:cNvPr id="2" name="">
            <a:extLst xmlns:a="http://schemas.openxmlformats.org/drawingml/2006/main">
              <a:ext uri="{FF2B5EF4-FFF2-40B4-BE49-F238E27FC236}">
                <a16:creationId xmlns:a16="http://schemas.microsoft.com/office/drawing/2014/main" id="{08BDE428-F8EB-464F-AC39-9D98539E4719}"/>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60810972-0131-437D-AC21-B976C7BEA7DF}"/>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6D20887D-0D67-4A6D-9AC1-A83AD2969F57}"/>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2DEA8A3D-1599-4EA6-8CE8-92B2C4DD527E}"/>
              </a:ext>
            </a:extLst>
          </p:cNvPr>
          <p:cNvSpPr>
            <a:spLocks xmlns:a="http://schemas.openxmlformats.org/drawingml/2006/main" noGrp="1"/>
          </p:cNvSpPr>
          <p:nvPr/>
        </p:nvSpPr>
        <p:spPr>
          <a:xfrm xmlns:a="http://schemas.openxmlformats.org/drawingml/2006/main">
            <a:off x="685800" y="16573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62B54"/>
                </a:solidFill>
                <a:latin typeface="Arial"/>
                <a:ea typeface="Arial"/>
                <a:cs typeface="Arial"/>
              </a:defRPr>
            </a:pPr>
            <a:r>
              <a:rPr sz="2325" b="1">
                <a:solidFill>
                  <a:srgbClr val="062B54"/>
                </a:solidFill>
                <a:latin typeface="Arial"/>
                <a:ea typeface="Arial"/>
                <a:cs typeface="Arial"/>
              </a:rPr>
              <a:t>Same HR question, different scope</a:t>
            </a:r>
          </a:p>
        </p:txBody>
      </p:sp>
      <p:sp>
        <p:nvSpPr>
          <p:cNvPr id="6" name="">
            <a:extLst xmlns:a="http://schemas.openxmlformats.org/drawingml/2006/main">
              <a:ext uri="{FF2B5EF4-FFF2-40B4-BE49-F238E27FC236}">
                <a16:creationId xmlns:a16="http://schemas.microsoft.com/office/drawing/2014/main" id="{76F1D867-32E3-4E95-9C1C-CC3E735768C5}"/>
              </a:ext>
            </a:extLst>
          </p:cNvPr>
          <p:cNvSpPr>
            <a:spLocks xmlns:a="http://schemas.openxmlformats.org/drawingml/2006/main" noGrp="1"/>
          </p:cNvSpPr>
          <p:nvPr/>
        </p:nvSpPr>
        <p:spPr>
          <a:xfrm xmlns:a="http://schemas.openxmlformats.org/drawingml/2006/main">
            <a:off x="685800" y="270510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5344D"/>
                </a:solidFill>
                <a:latin typeface="Arial"/>
                <a:ea typeface="Arial"/>
                <a:cs typeface="Arial"/>
              </a:defRPr>
            </a:pPr>
            <a:r>
              <a:rPr sz="1950" b="0">
                <a:solidFill>
                  <a:srgbClr val="15344D"/>
                </a:solidFill>
                <a:latin typeface="Arial"/>
                <a:ea typeface="Arial"/>
                <a:cs typeface="Arial"/>
              </a:rPr>
              <a:t>Administrator: a cited leave-policy answer.</a:t>
            </a:r>
          </a:p>
        </p:txBody>
      </p:sp>
      <p:sp>
        <p:nvSpPr>
          <p:cNvPr id="7" name="">
            <a:extLst xmlns:a="http://schemas.openxmlformats.org/drawingml/2006/main">
              <a:ext uri="{FF2B5EF4-FFF2-40B4-BE49-F238E27FC236}">
                <a16:creationId xmlns:a16="http://schemas.microsoft.com/office/drawing/2014/main" id="{87D208D5-68BE-41FD-AB21-6591F57E5E3A}"/>
              </a:ext>
            </a:extLst>
          </p:cNvPr>
          <p:cNvSpPr>
            <a:spLocks xmlns:a="http://schemas.openxmlformats.org/drawingml/2006/main" noGrp="1"/>
          </p:cNvSpPr>
          <p:nvPr/>
        </p:nvSpPr>
        <p:spPr>
          <a:xfrm xmlns:a="http://schemas.openxmlformats.org/drawingml/2006/main">
            <a:off x="685800" y="37147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5344D"/>
                </a:solidFill>
                <a:latin typeface="Arial"/>
                <a:ea typeface="Arial"/>
                <a:cs typeface="Arial"/>
              </a:defRPr>
            </a:pPr>
            <a:r>
              <a:rPr sz="1950" b="0">
                <a:solidFill>
                  <a:srgbClr val="15344D"/>
                </a:solidFill>
                <a:latin typeface="Arial"/>
                <a:ea typeface="Arial"/>
                <a:cs typeface="Arial"/>
              </a:rPr>
              <a:t>Delivery employee: no HR passage or citation.</a:t>
            </a:r>
          </a:p>
        </p:txBody>
      </p:sp>
      <p:sp>
        <p:nvSpPr>
          <p:cNvPr id="8" name="">
            <a:extLst xmlns:a="http://schemas.openxmlformats.org/drawingml/2006/main">
              <a:ext uri="{FF2B5EF4-FFF2-40B4-BE49-F238E27FC236}">
                <a16:creationId xmlns:a16="http://schemas.microsoft.com/office/drawing/2014/main" id="{50EC210C-4B4B-40F0-977C-F1218C949884}"/>
              </a:ext>
            </a:extLst>
          </p:cNvPr>
          <p:cNvSpPr>
            <a:spLocks xmlns:a="http://schemas.openxmlformats.org/drawingml/2006/main" noGrp="1"/>
          </p:cNvSpPr>
          <p:nvPr/>
        </p:nvSpPr>
        <p:spPr>
          <a:xfrm xmlns:a="http://schemas.openxmlformats.org/drawingml/2006/main">
            <a:off x="685800" y="4876800"/>
            <a:ext cx="4191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CC1"/>
                </a:solidFill>
                <a:latin typeface="Arial"/>
                <a:ea typeface="Arial"/>
                <a:cs typeface="Arial"/>
              </a:defRPr>
            </a:pPr>
            <a:r>
              <a:rPr sz="1875" b="1">
                <a:solidFill>
                  <a:srgbClr val="087CC1"/>
                </a:solidFill>
                <a:latin typeface="Arial"/>
                <a:ea typeface="Arial"/>
                <a:cs typeface="Arial"/>
              </a:rPr>
              <a:t>The MCP server and API both check the user’s access.</a:t>
            </a:r>
          </a:p>
        </p:txBody>
      </p:sp>
      <p:sp>
        <p:nvSpPr>
          <p:cNvPr id="9" name="">
            <a:extLst xmlns:a="http://schemas.openxmlformats.org/drawingml/2006/main">
              <a:ext uri="{FF2B5EF4-FFF2-40B4-BE49-F238E27FC236}">
                <a16:creationId xmlns:a16="http://schemas.microsoft.com/office/drawing/2014/main" id="{E0AD3060-EF1E-4446-9E10-6C85E5371FA8}"/>
              </a:ext>
            </a:extLst>
          </p:cNvPr>
          <p:cNvSpPr>
            <a:spLocks xmlns:a="http://schemas.openxmlformats.org/drawingml/2006/main" noGrp="1"/>
          </p:cNvSpPr>
          <p:nvPr/>
        </p:nvSpPr>
        <p:spPr>
          <a:xfrm xmlns:a="http://schemas.openxmlformats.org/drawingml/2006/main">
            <a:off x="5248275" y="2228850"/>
            <a:ext cx="6324600" cy="3314700"/>
          </a:xfrm>
          <a:prstGeom xmlns:a="http://schemas.openxmlformats.org/drawingml/2006/main" prst="roundRect">
            <a:avLst>
              <a:gd name="adj" fmla="val 2299"/>
            </a:avLst>
          </a:prstGeom>
          <a:solidFill xmlns:a="http://schemas.openxmlformats.org/drawingml/2006/main">
            <a:srgbClr val="FFFFFF"/>
          </a:solidFill>
          <a:ln xmlns:a="http://schemas.openxmlformats.org/drawingml/2006/main" w="19050">
            <a:solidFill>
              <a:srgbClr val="D7E7E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38a90850ce841a2"/>
          <a:stretch xmlns:a="http://schemas.openxmlformats.org/drawingml/2006/main"/>
        </p:blipFill>
        <p:spPr>
          <a:xfrm xmlns:a="http://schemas.openxmlformats.org/drawingml/2006/main">
            <a:off x="5267325" y="2371961"/>
            <a:ext cx="6286500" cy="3028479"/>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72094F1-78AE-4769-A307-B727DEF10946}"/>
              </a:ext>
            </a:extLst>
          </p:cNvPr>
          <p:cNvSpPr>
            <a:spLocks xmlns:a="http://schemas.openxmlformats.org/drawingml/2006/main" noGrp="1"/>
          </p:cNvSpPr>
          <p:nvPr/>
        </p:nvSpPr>
        <p:spPr>
          <a:xfrm xmlns:a="http://schemas.openxmlformats.org/drawingml/2006/main">
            <a:off x="5353050" y="5619750"/>
            <a:ext cx="612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5C7184"/>
                </a:solidFill>
                <a:latin typeface="Arial"/>
                <a:ea typeface="Arial"/>
                <a:cs typeface="Arial"/>
              </a:defRPr>
            </a:pPr>
            <a:r>
              <a:rPr sz="1425" b="0">
                <a:solidFill>
                  <a:srgbClr val="5C7184"/>
                </a:solidFill>
                <a:latin typeface="Arial"/>
                <a:ea typeface="Arial"/>
                <a:cs typeface="Arial"/>
              </a:rPr>
              <a:t>The no-answer screen still needs a distinct heading.</a:t>
            </a:r>
          </a:p>
        </p:txBody>
      </p:sp>
    </p:spTree>
    <p:extLst>
      <p:ext uri="{BB962C8B-B14F-4D97-AF65-F5344CB8AC3E}">
        <p14:creationId xmlns:p14="http://schemas.microsoft.com/office/powerpoint/2010/main" val="19503580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7E237BE-9A69-405B-B0B7-4A8D1D4353AC}"/>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Technology by component</a:t>
            </a:r>
          </a:p>
        </p:txBody>
      </p:sp>
      <p:sp>
        <p:nvSpPr>
          <p:cNvPr id="2" name="">
            <a:extLst xmlns:a="http://schemas.openxmlformats.org/drawingml/2006/main">
              <a:ext uri="{FF2B5EF4-FFF2-40B4-BE49-F238E27FC236}">
                <a16:creationId xmlns:a16="http://schemas.microsoft.com/office/drawing/2014/main" id="{512B2A3C-FEF6-4C80-B914-E4067BE2779C}"/>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E56A49E2-B14B-4B14-BD8B-DED245F99B7B}"/>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8B04FBA2-50EF-4867-AAE6-34B7505D1EBF}"/>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1469112-BD4B-4090-A2B5-FAB08B15F65A}"/>
              </a:ext>
            </a:extLst>
          </p:cNvPr>
          <p:cNvSpPr>
            <a:spLocks xmlns:a="http://schemas.openxmlformats.org/drawingml/2006/main" noGrp="1"/>
          </p:cNvSpPr>
          <p:nvPr/>
        </p:nvSpPr>
        <p:spPr>
          <a:xfrm xmlns:a="http://schemas.openxmlformats.org/drawingml/2006/main">
            <a:off x="638175" y="157162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087CC1"/>
                </a:solidFill>
                <a:latin typeface="Arial"/>
                <a:ea typeface="Arial"/>
                <a:cs typeface="Arial"/>
              </a:defRPr>
            </a:pPr>
            <a:r>
              <a:rPr sz="1500" b="1">
                <a:solidFill>
                  <a:srgbClr val="087CC1"/>
                </a:solidFill>
                <a:latin typeface="Arial"/>
                <a:ea typeface="Arial"/>
                <a:cs typeface="Arial"/>
              </a:rPr>
              <a:t>PART</a:t>
            </a:r>
          </a:p>
        </p:txBody>
      </p:sp>
      <p:sp>
        <p:nvSpPr>
          <p:cNvPr id="6" name="">
            <a:extLst xmlns:a="http://schemas.openxmlformats.org/drawingml/2006/main">
              <a:ext uri="{FF2B5EF4-FFF2-40B4-BE49-F238E27FC236}">
                <a16:creationId xmlns:a16="http://schemas.microsoft.com/office/drawing/2014/main" id="{921A380C-AFEC-4B85-8367-761EE669D161}"/>
              </a:ext>
            </a:extLst>
          </p:cNvPr>
          <p:cNvSpPr>
            <a:spLocks xmlns:a="http://schemas.openxmlformats.org/drawingml/2006/main" noGrp="1"/>
          </p:cNvSpPr>
          <p:nvPr/>
        </p:nvSpPr>
        <p:spPr>
          <a:xfrm xmlns:a="http://schemas.openxmlformats.org/drawingml/2006/main">
            <a:off x="3076575" y="1571625"/>
            <a:ext cx="3076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087CC1"/>
                </a:solidFill>
                <a:latin typeface="Arial"/>
                <a:ea typeface="Arial"/>
                <a:cs typeface="Arial"/>
              </a:defRPr>
            </a:pPr>
            <a:r>
              <a:rPr sz="1500" b="1">
                <a:solidFill>
                  <a:srgbClr val="087CC1"/>
                </a:solidFill>
                <a:latin typeface="Arial"/>
                <a:ea typeface="Arial"/>
                <a:cs typeface="Arial"/>
              </a:rPr>
              <a:t>TECHNOLOGY</a:t>
            </a:r>
          </a:p>
        </p:txBody>
      </p:sp>
      <p:sp>
        <p:nvSpPr>
          <p:cNvPr id="7" name="">
            <a:extLst xmlns:a="http://schemas.openxmlformats.org/drawingml/2006/main">
              <a:ext uri="{FF2B5EF4-FFF2-40B4-BE49-F238E27FC236}">
                <a16:creationId xmlns:a16="http://schemas.microsoft.com/office/drawing/2014/main" id="{D57D588A-9945-44C7-8A4B-4F72DD027622}"/>
              </a:ext>
            </a:extLst>
          </p:cNvPr>
          <p:cNvSpPr>
            <a:spLocks xmlns:a="http://schemas.openxmlformats.org/drawingml/2006/main" noGrp="1"/>
          </p:cNvSpPr>
          <p:nvPr/>
        </p:nvSpPr>
        <p:spPr>
          <a:xfrm xmlns:a="http://schemas.openxmlformats.org/drawingml/2006/main">
            <a:off x="6257925" y="1571625"/>
            <a:ext cx="528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087CC1"/>
                </a:solidFill>
                <a:latin typeface="Arial"/>
                <a:ea typeface="Arial"/>
                <a:cs typeface="Arial"/>
              </a:defRPr>
            </a:pPr>
            <a:r>
              <a:rPr sz="1500" b="1">
                <a:solidFill>
                  <a:srgbClr val="087CC1"/>
                </a:solidFill>
                <a:latin typeface="Arial"/>
                <a:ea typeface="Arial"/>
                <a:cs typeface="Arial"/>
              </a:rPr>
              <a:t>ROLE IN THE PRODUCT</a:t>
            </a:r>
          </a:p>
        </p:txBody>
      </p:sp>
      <p:sp>
        <p:nvSpPr>
          <p:cNvPr id="8" name="">
            <a:extLst xmlns:a="http://schemas.openxmlformats.org/drawingml/2006/main">
              <a:ext uri="{FF2B5EF4-FFF2-40B4-BE49-F238E27FC236}">
                <a16:creationId xmlns:a16="http://schemas.microsoft.com/office/drawing/2014/main" id="{C538A576-F853-4EA2-B386-7C9443953784}"/>
              </a:ext>
            </a:extLst>
          </p:cNvPr>
          <p:cNvSpPr>
            <a:spLocks xmlns:a="http://schemas.openxmlformats.org/drawingml/2006/main" noGrp="1"/>
          </p:cNvSpPr>
          <p:nvPr/>
        </p:nvSpPr>
        <p:spPr>
          <a:xfrm xmlns:a="http://schemas.openxmlformats.org/drawingml/2006/main">
            <a:off x="638175" y="1962150"/>
            <a:ext cx="10896600" cy="0"/>
          </a:xfrm>
          <a:prstGeom xmlns:a="http://schemas.openxmlformats.org/drawingml/2006/main" prst="line">
            <a:avLst/>
          </a:prstGeom>
          <a:noFill xmlns:a="http://schemas.openxmlformats.org/drawingml/2006/main"/>
          <a:ln xmlns:a="http://schemas.openxmlformats.org/drawingml/2006/main" w="9525">
            <a:solidFill>
              <a:srgbClr val="D7E7EF"/>
            </a:solidFill>
            <a:prstDash val="solid"/>
          </a:ln>
        </p:spPr>
      </p:sp>
      <p:sp>
        <p:nvSpPr>
          <p:cNvPr id="9" name="">
            <a:extLst xmlns:a="http://schemas.openxmlformats.org/drawingml/2006/main">
              <a:ext uri="{FF2B5EF4-FFF2-40B4-BE49-F238E27FC236}">
                <a16:creationId xmlns:a16="http://schemas.microsoft.com/office/drawing/2014/main" id="{121D3EBE-B292-472F-B765-8A97CA1AA42D}"/>
              </a:ext>
            </a:extLst>
          </p:cNvPr>
          <p:cNvSpPr>
            <a:spLocks xmlns:a="http://schemas.openxmlformats.org/drawingml/2006/main" noGrp="1"/>
          </p:cNvSpPr>
          <p:nvPr/>
        </p:nvSpPr>
        <p:spPr>
          <a:xfrm xmlns:a="http://schemas.openxmlformats.org/drawingml/2006/main">
            <a:off x="638175" y="20097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62B54"/>
                </a:solidFill>
                <a:latin typeface="Arial"/>
                <a:ea typeface="Arial"/>
                <a:cs typeface="Arial"/>
              </a:defRPr>
            </a:pPr>
            <a:r>
              <a:rPr sz="1725" b="1">
                <a:solidFill>
                  <a:srgbClr val="062B54"/>
                </a:solidFill>
                <a:latin typeface="Arial"/>
                <a:ea typeface="Arial"/>
                <a:cs typeface="Arial"/>
              </a:rPr>
              <a:t>Interface</a:t>
            </a:r>
          </a:p>
        </p:txBody>
      </p:sp>
      <p:sp>
        <p:nvSpPr>
          <p:cNvPr id="10" name="">
            <a:extLst xmlns:a="http://schemas.openxmlformats.org/drawingml/2006/main">
              <a:ext uri="{FF2B5EF4-FFF2-40B4-BE49-F238E27FC236}">
                <a16:creationId xmlns:a16="http://schemas.microsoft.com/office/drawing/2014/main" id="{AC41C516-4478-4C4B-9DB2-1555F210DF72}"/>
              </a:ext>
            </a:extLst>
          </p:cNvPr>
          <p:cNvSpPr>
            <a:spLocks xmlns:a="http://schemas.openxmlformats.org/drawingml/2006/main" noGrp="1"/>
          </p:cNvSpPr>
          <p:nvPr/>
        </p:nvSpPr>
        <p:spPr>
          <a:xfrm xmlns:a="http://schemas.openxmlformats.org/drawingml/2006/main">
            <a:off x="3076575" y="2009775"/>
            <a:ext cx="293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HTML, CSS, JavaScript</a:t>
            </a:r>
          </a:p>
        </p:txBody>
      </p:sp>
      <p:sp>
        <p:nvSpPr>
          <p:cNvPr id="11" name="">
            <a:extLst xmlns:a="http://schemas.openxmlformats.org/drawingml/2006/main">
              <a:ext uri="{FF2B5EF4-FFF2-40B4-BE49-F238E27FC236}">
                <a16:creationId xmlns:a16="http://schemas.microsoft.com/office/drawing/2014/main" id="{31557CDD-5F5F-49C7-A43E-4122101E444E}"/>
              </a:ext>
            </a:extLst>
          </p:cNvPr>
          <p:cNvSpPr>
            <a:spLocks xmlns:a="http://schemas.openxmlformats.org/drawingml/2006/main" noGrp="1"/>
          </p:cNvSpPr>
          <p:nvPr/>
        </p:nvSpPr>
        <p:spPr>
          <a:xfrm xmlns:a="http://schemas.openxmlformats.org/drawingml/2006/main">
            <a:off x="6257925" y="20097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Question form, citations, source preview, admin screens</a:t>
            </a:r>
          </a:p>
        </p:txBody>
      </p:sp>
      <p:sp>
        <p:nvSpPr>
          <p:cNvPr id="12" name="">
            <a:extLst xmlns:a="http://schemas.openxmlformats.org/drawingml/2006/main">
              <a:ext uri="{FF2B5EF4-FFF2-40B4-BE49-F238E27FC236}">
                <a16:creationId xmlns:a16="http://schemas.microsoft.com/office/drawing/2014/main" id="{42775CB9-800D-4E85-A10D-C4A0335030FF}"/>
              </a:ext>
            </a:extLst>
          </p:cNvPr>
          <p:cNvSpPr>
            <a:spLocks xmlns:a="http://schemas.openxmlformats.org/drawingml/2006/main" noGrp="1"/>
          </p:cNvSpPr>
          <p:nvPr/>
        </p:nvSpPr>
        <p:spPr>
          <a:xfrm xmlns:a="http://schemas.openxmlformats.org/drawingml/2006/main">
            <a:off x="638175" y="2714625"/>
            <a:ext cx="10896600" cy="0"/>
          </a:xfrm>
          <a:prstGeom xmlns:a="http://schemas.openxmlformats.org/drawingml/2006/main" prst="line">
            <a:avLst/>
          </a:prstGeom>
          <a:noFill xmlns:a="http://schemas.openxmlformats.org/drawingml/2006/main"/>
          <a:ln xmlns:a="http://schemas.openxmlformats.org/drawingml/2006/main" w="9525">
            <a:solidFill>
              <a:srgbClr val="D7E7EF"/>
            </a:solidFill>
            <a:prstDash val="solid"/>
          </a:ln>
        </p:spPr>
      </p:sp>
      <p:sp>
        <p:nvSpPr>
          <p:cNvPr id="13" name="">
            <a:extLst xmlns:a="http://schemas.openxmlformats.org/drawingml/2006/main">
              <a:ext uri="{FF2B5EF4-FFF2-40B4-BE49-F238E27FC236}">
                <a16:creationId xmlns:a16="http://schemas.microsoft.com/office/drawing/2014/main" id="{5840F886-8C25-48F3-8C63-F656286E8999}"/>
              </a:ext>
            </a:extLst>
          </p:cNvPr>
          <p:cNvSpPr>
            <a:spLocks xmlns:a="http://schemas.openxmlformats.org/drawingml/2006/main" noGrp="1"/>
          </p:cNvSpPr>
          <p:nvPr/>
        </p:nvSpPr>
        <p:spPr>
          <a:xfrm xmlns:a="http://schemas.openxmlformats.org/drawingml/2006/main">
            <a:off x="638175" y="2762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62B54"/>
                </a:solidFill>
                <a:latin typeface="Arial"/>
                <a:ea typeface="Arial"/>
                <a:cs typeface="Arial"/>
              </a:defRPr>
            </a:pPr>
            <a:r>
              <a:rPr sz="1725" b="1">
                <a:solidFill>
                  <a:srgbClr val="062B54"/>
                </a:solidFill>
                <a:latin typeface="Arial"/>
                <a:ea typeface="Arial"/>
                <a:cs typeface="Arial"/>
              </a:rPr>
              <a:t>Application</a:t>
            </a:r>
          </a:p>
        </p:txBody>
      </p:sp>
      <p:sp>
        <p:nvSpPr>
          <p:cNvPr id="14" name="">
            <a:extLst xmlns:a="http://schemas.openxmlformats.org/drawingml/2006/main">
              <a:ext uri="{FF2B5EF4-FFF2-40B4-BE49-F238E27FC236}">
                <a16:creationId xmlns:a16="http://schemas.microsoft.com/office/drawing/2014/main" id="{E1D7E625-C07A-416C-89F3-0A0DFBE78711}"/>
              </a:ext>
            </a:extLst>
          </p:cNvPr>
          <p:cNvSpPr>
            <a:spLocks xmlns:a="http://schemas.openxmlformats.org/drawingml/2006/main" noGrp="1"/>
          </p:cNvSpPr>
          <p:nvPr/>
        </p:nvSpPr>
        <p:spPr>
          <a:xfrm xmlns:a="http://schemas.openxmlformats.org/drawingml/2006/main">
            <a:off x="3076575" y="2762250"/>
            <a:ext cx="293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Python standard library HTTP server</a:t>
            </a:r>
          </a:p>
        </p:txBody>
      </p:sp>
      <p:sp>
        <p:nvSpPr>
          <p:cNvPr id="15" name="">
            <a:extLst xmlns:a="http://schemas.openxmlformats.org/drawingml/2006/main">
              <a:ext uri="{FF2B5EF4-FFF2-40B4-BE49-F238E27FC236}">
                <a16:creationId xmlns:a16="http://schemas.microsoft.com/office/drawing/2014/main" id="{643BED65-6FE7-470E-BF23-F6CC9FD271AD}"/>
              </a:ext>
            </a:extLst>
          </p:cNvPr>
          <p:cNvSpPr>
            <a:spLocks xmlns:a="http://schemas.openxmlformats.org/drawingml/2006/main" noGrp="1"/>
          </p:cNvSpPr>
          <p:nvPr/>
        </p:nvSpPr>
        <p:spPr>
          <a:xfrm xmlns:a="http://schemas.openxmlformats.org/drawingml/2006/main">
            <a:off x="6257925" y="27622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Authentication, API endpoints, routing, answer workflow</a:t>
            </a:r>
          </a:p>
        </p:txBody>
      </p:sp>
      <p:sp>
        <p:nvSpPr>
          <p:cNvPr id="16" name="">
            <a:extLst xmlns:a="http://schemas.openxmlformats.org/drawingml/2006/main">
              <a:ext uri="{FF2B5EF4-FFF2-40B4-BE49-F238E27FC236}">
                <a16:creationId xmlns:a16="http://schemas.microsoft.com/office/drawing/2014/main" id="{DEA4717B-E397-4117-8998-DE28CFC89C71}"/>
              </a:ext>
            </a:extLst>
          </p:cNvPr>
          <p:cNvSpPr>
            <a:spLocks xmlns:a="http://schemas.openxmlformats.org/drawingml/2006/main" noGrp="1"/>
          </p:cNvSpPr>
          <p:nvPr/>
        </p:nvSpPr>
        <p:spPr>
          <a:xfrm xmlns:a="http://schemas.openxmlformats.org/drawingml/2006/main">
            <a:off x="638175" y="3467100"/>
            <a:ext cx="10896600" cy="0"/>
          </a:xfrm>
          <a:prstGeom xmlns:a="http://schemas.openxmlformats.org/drawingml/2006/main" prst="line">
            <a:avLst/>
          </a:prstGeom>
          <a:noFill xmlns:a="http://schemas.openxmlformats.org/drawingml/2006/main"/>
          <a:ln xmlns:a="http://schemas.openxmlformats.org/drawingml/2006/main" w="9525">
            <a:solidFill>
              <a:srgbClr val="D7E7EF"/>
            </a:solidFill>
            <a:prstDash val="solid"/>
          </a:ln>
        </p:spPr>
      </p:sp>
      <p:sp>
        <p:nvSpPr>
          <p:cNvPr id="17" name="">
            <a:extLst xmlns:a="http://schemas.openxmlformats.org/drawingml/2006/main">
              <a:ext uri="{FF2B5EF4-FFF2-40B4-BE49-F238E27FC236}">
                <a16:creationId xmlns:a16="http://schemas.microsoft.com/office/drawing/2014/main" id="{5630D570-B005-4EB1-AD65-D2BA2B2D89A1}"/>
              </a:ext>
            </a:extLst>
          </p:cNvPr>
          <p:cNvSpPr>
            <a:spLocks xmlns:a="http://schemas.openxmlformats.org/drawingml/2006/main" noGrp="1"/>
          </p:cNvSpPr>
          <p:nvPr/>
        </p:nvSpPr>
        <p:spPr>
          <a:xfrm xmlns:a="http://schemas.openxmlformats.org/drawingml/2006/main">
            <a:off x="638175" y="35147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62B54"/>
                </a:solidFill>
                <a:latin typeface="Arial"/>
                <a:ea typeface="Arial"/>
                <a:cs typeface="Arial"/>
              </a:defRPr>
            </a:pPr>
            <a:r>
              <a:rPr sz="1725" b="1">
                <a:solidFill>
                  <a:srgbClr val="062B54"/>
                </a:solidFill>
                <a:latin typeface="Arial"/>
                <a:ea typeface="Arial"/>
                <a:cs typeface="Arial"/>
              </a:rPr>
              <a:t>Knowledge store</a:t>
            </a:r>
          </a:p>
        </p:txBody>
      </p:sp>
      <p:sp>
        <p:nvSpPr>
          <p:cNvPr id="18" name="">
            <a:extLst xmlns:a="http://schemas.openxmlformats.org/drawingml/2006/main">
              <a:ext uri="{FF2B5EF4-FFF2-40B4-BE49-F238E27FC236}">
                <a16:creationId xmlns:a16="http://schemas.microsoft.com/office/drawing/2014/main" id="{7F3AE7ED-E8E5-474D-BFC1-0DB8F2916627}"/>
              </a:ext>
            </a:extLst>
          </p:cNvPr>
          <p:cNvSpPr>
            <a:spLocks xmlns:a="http://schemas.openxmlformats.org/drawingml/2006/main" noGrp="1"/>
          </p:cNvSpPr>
          <p:nvPr/>
        </p:nvSpPr>
        <p:spPr>
          <a:xfrm xmlns:a="http://schemas.openxmlformats.org/drawingml/2006/main">
            <a:off x="3076575" y="3514725"/>
            <a:ext cx="293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SQLite with FTS5</a:t>
            </a:r>
          </a:p>
        </p:txBody>
      </p:sp>
      <p:sp>
        <p:nvSpPr>
          <p:cNvPr id="19" name="">
            <a:extLst xmlns:a="http://schemas.openxmlformats.org/drawingml/2006/main">
              <a:ext uri="{FF2B5EF4-FFF2-40B4-BE49-F238E27FC236}">
                <a16:creationId xmlns:a16="http://schemas.microsoft.com/office/drawing/2014/main" id="{52FA7715-CAD9-41D0-8DB7-78E243496637}"/>
              </a:ext>
            </a:extLst>
          </p:cNvPr>
          <p:cNvSpPr>
            <a:spLocks xmlns:a="http://schemas.openxmlformats.org/drawingml/2006/main" noGrp="1"/>
          </p:cNvSpPr>
          <p:nvPr/>
        </p:nvSpPr>
        <p:spPr>
          <a:xfrm xmlns:a="http://schemas.openxmlformats.org/drawingml/2006/main">
            <a:off x="6257925" y="35147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Documents, passages, search terms, queries and audit records</a:t>
            </a:r>
          </a:p>
        </p:txBody>
      </p:sp>
      <p:sp>
        <p:nvSpPr>
          <p:cNvPr id="20" name="">
            <a:extLst xmlns:a="http://schemas.openxmlformats.org/drawingml/2006/main">
              <a:ext uri="{FF2B5EF4-FFF2-40B4-BE49-F238E27FC236}">
                <a16:creationId xmlns:a16="http://schemas.microsoft.com/office/drawing/2014/main" id="{4787BB67-8D16-44DE-9944-62FC95C6C0E9}"/>
              </a:ext>
            </a:extLst>
          </p:cNvPr>
          <p:cNvSpPr>
            <a:spLocks xmlns:a="http://schemas.openxmlformats.org/drawingml/2006/main" noGrp="1"/>
          </p:cNvSpPr>
          <p:nvPr/>
        </p:nvSpPr>
        <p:spPr>
          <a:xfrm xmlns:a="http://schemas.openxmlformats.org/drawingml/2006/main">
            <a:off x="638175" y="4219575"/>
            <a:ext cx="10896600" cy="0"/>
          </a:xfrm>
          <a:prstGeom xmlns:a="http://schemas.openxmlformats.org/drawingml/2006/main" prst="line">
            <a:avLst/>
          </a:prstGeom>
          <a:noFill xmlns:a="http://schemas.openxmlformats.org/drawingml/2006/main"/>
          <a:ln xmlns:a="http://schemas.openxmlformats.org/drawingml/2006/main" w="9525">
            <a:solidFill>
              <a:srgbClr val="D7E7EF"/>
            </a:solidFill>
            <a:prstDash val="solid"/>
          </a:ln>
        </p:spPr>
      </p:sp>
      <p:sp>
        <p:nvSpPr>
          <p:cNvPr id="21" name="">
            <a:extLst xmlns:a="http://schemas.openxmlformats.org/drawingml/2006/main">
              <a:ext uri="{FF2B5EF4-FFF2-40B4-BE49-F238E27FC236}">
                <a16:creationId xmlns:a16="http://schemas.microsoft.com/office/drawing/2014/main" id="{8F997655-42A7-4555-9133-D25CE8C744FC}"/>
              </a:ext>
            </a:extLst>
          </p:cNvPr>
          <p:cNvSpPr>
            <a:spLocks xmlns:a="http://schemas.openxmlformats.org/drawingml/2006/main" noGrp="1"/>
          </p:cNvSpPr>
          <p:nvPr/>
        </p:nvSpPr>
        <p:spPr>
          <a:xfrm xmlns:a="http://schemas.openxmlformats.org/drawingml/2006/main">
            <a:off x="638175" y="426720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62B54"/>
                </a:solidFill>
                <a:latin typeface="Arial"/>
                <a:ea typeface="Arial"/>
                <a:cs typeface="Arial"/>
              </a:defRPr>
            </a:pPr>
            <a:r>
              <a:rPr sz="1725" b="1">
                <a:solidFill>
                  <a:srgbClr val="062B54"/>
                </a:solidFill>
                <a:latin typeface="Arial"/>
                <a:ea typeface="Arial"/>
                <a:cs typeface="Arial"/>
              </a:rPr>
              <a:t>Connector</a:t>
            </a:r>
          </a:p>
        </p:txBody>
      </p:sp>
      <p:sp>
        <p:nvSpPr>
          <p:cNvPr id="22" name="">
            <a:extLst xmlns:a="http://schemas.openxmlformats.org/drawingml/2006/main">
              <a:ext uri="{FF2B5EF4-FFF2-40B4-BE49-F238E27FC236}">
                <a16:creationId xmlns:a16="http://schemas.microsoft.com/office/drawing/2014/main" id="{B613843F-7537-4C27-8C89-46570D8E1DC4}"/>
              </a:ext>
            </a:extLst>
          </p:cNvPr>
          <p:cNvSpPr>
            <a:spLocks xmlns:a="http://schemas.openxmlformats.org/drawingml/2006/main" noGrp="1"/>
          </p:cNvSpPr>
          <p:nvPr/>
        </p:nvSpPr>
        <p:spPr>
          <a:xfrm xmlns:a="http://schemas.openxmlformats.org/drawingml/2006/main">
            <a:off x="3076575" y="4267200"/>
            <a:ext cx="293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MCP over stdio JSON-RPC</a:t>
            </a:r>
          </a:p>
        </p:txBody>
      </p:sp>
      <p:sp>
        <p:nvSpPr>
          <p:cNvPr id="23" name="">
            <a:extLst xmlns:a="http://schemas.openxmlformats.org/drawingml/2006/main">
              <a:ext uri="{FF2B5EF4-FFF2-40B4-BE49-F238E27FC236}">
                <a16:creationId xmlns:a16="http://schemas.microsoft.com/office/drawing/2014/main" id="{82FE2030-76CB-4D52-A1AD-586BE579CFD1}"/>
              </a:ext>
            </a:extLst>
          </p:cNvPr>
          <p:cNvSpPr>
            <a:spLocks xmlns:a="http://schemas.openxmlformats.org/drawingml/2006/main" noGrp="1"/>
          </p:cNvSpPr>
          <p:nvPr/>
        </p:nvSpPr>
        <p:spPr>
          <a:xfrm xmlns:a="http://schemas.openxmlformats.org/drawingml/2006/main">
            <a:off x="6257925" y="42672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Read-only HR search demonstration</a:t>
            </a:r>
          </a:p>
        </p:txBody>
      </p:sp>
      <p:sp>
        <p:nvSpPr>
          <p:cNvPr id="24" name="">
            <a:extLst xmlns:a="http://schemas.openxmlformats.org/drawingml/2006/main">
              <a:ext uri="{FF2B5EF4-FFF2-40B4-BE49-F238E27FC236}">
                <a16:creationId xmlns:a16="http://schemas.microsoft.com/office/drawing/2014/main" id="{F6BBA77F-C33C-4F16-A0F2-7C1E85AE6FDC}"/>
              </a:ext>
            </a:extLst>
          </p:cNvPr>
          <p:cNvSpPr>
            <a:spLocks xmlns:a="http://schemas.openxmlformats.org/drawingml/2006/main" noGrp="1"/>
          </p:cNvSpPr>
          <p:nvPr/>
        </p:nvSpPr>
        <p:spPr>
          <a:xfrm xmlns:a="http://schemas.openxmlformats.org/drawingml/2006/main">
            <a:off x="638175" y="4972050"/>
            <a:ext cx="10896600" cy="0"/>
          </a:xfrm>
          <a:prstGeom xmlns:a="http://schemas.openxmlformats.org/drawingml/2006/main" prst="line">
            <a:avLst/>
          </a:prstGeom>
          <a:noFill xmlns:a="http://schemas.openxmlformats.org/drawingml/2006/main"/>
          <a:ln xmlns:a="http://schemas.openxmlformats.org/drawingml/2006/main" w="9525">
            <a:solidFill>
              <a:srgbClr val="D7E7EF"/>
            </a:solidFill>
            <a:prstDash val="solid"/>
          </a:ln>
        </p:spPr>
      </p:sp>
      <p:sp>
        <p:nvSpPr>
          <p:cNvPr id="25" name="">
            <a:extLst xmlns:a="http://schemas.openxmlformats.org/drawingml/2006/main">
              <a:ext uri="{FF2B5EF4-FFF2-40B4-BE49-F238E27FC236}">
                <a16:creationId xmlns:a16="http://schemas.microsoft.com/office/drawing/2014/main" id="{E4673A88-7499-4093-A506-FB9E9C7614CE}"/>
              </a:ext>
            </a:extLst>
          </p:cNvPr>
          <p:cNvSpPr>
            <a:spLocks xmlns:a="http://schemas.openxmlformats.org/drawingml/2006/main" noGrp="1"/>
          </p:cNvSpPr>
          <p:nvPr/>
        </p:nvSpPr>
        <p:spPr>
          <a:xfrm xmlns:a="http://schemas.openxmlformats.org/drawingml/2006/main">
            <a:off x="638175" y="50196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62B54"/>
                </a:solidFill>
                <a:latin typeface="Arial"/>
                <a:ea typeface="Arial"/>
                <a:cs typeface="Arial"/>
              </a:defRPr>
            </a:pPr>
            <a:r>
              <a:rPr sz="1725" b="1">
                <a:solidFill>
                  <a:srgbClr val="062B54"/>
                </a:solidFill>
                <a:latin typeface="Arial"/>
                <a:ea typeface="Arial"/>
                <a:cs typeface="Arial"/>
              </a:rPr>
              <a:t>Answering</a:t>
            </a:r>
          </a:p>
        </p:txBody>
      </p:sp>
      <p:sp>
        <p:nvSpPr>
          <p:cNvPr id="26" name="">
            <a:extLst xmlns:a="http://schemas.openxmlformats.org/drawingml/2006/main">
              <a:ext uri="{FF2B5EF4-FFF2-40B4-BE49-F238E27FC236}">
                <a16:creationId xmlns:a16="http://schemas.microsoft.com/office/drawing/2014/main" id="{6B498848-235D-4196-895C-8E9B213468A8}"/>
              </a:ext>
            </a:extLst>
          </p:cNvPr>
          <p:cNvSpPr>
            <a:spLocks xmlns:a="http://schemas.openxmlformats.org/drawingml/2006/main" noGrp="1"/>
          </p:cNvSpPr>
          <p:nvPr/>
        </p:nvSpPr>
        <p:spPr>
          <a:xfrm xmlns:a="http://schemas.openxmlformats.org/drawingml/2006/main">
            <a:off x="3076575" y="5019675"/>
            <a:ext cx="293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Extractive synthesis; optional Gemini</a:t>
            </a:r>
          </a:p>
        </p:txBody>
      </p:sp>
      <p:sp>
        <p:nvSpPr>
          <p:cNvPr id="27" name="">
            <a:extLst xmlns:a="http://schemas.openxmlformats.org/drawingml/2006/main">
              <a:ext uri="{FF2B5EF4-FFF2-40B4-BE49-F238E27FC236}">
                <a16:creationId xmlns:a16="http://schemas.microsoft.com/office/drawing/2014/main" id="{B8E1EDFF-FF00-43C0-BF13-76EC66C48C88}"/>
              </a:ext>
            </a:extLst>
          </p:cNvPr>
          <p:cNvSpPr>
            <a:spLocks xmlns:a="http://schemas.openxmlformats.org/drawingml/2006/main" noGrp="1"/>
          </p:cNvSpPr>
          <p:nvPr/>
        </p:nvSpPr>
        <p:spPr>
          <a:xfrm xmlns:a="http://schemas.openxmlformats.org/drawingml/2006/main">
            <a:off x="6257925" y="50196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5344D"/>
                </a:solidFill>
                <a:latin typeface="Arial"/>
                <a:ea typeface="Arial"/>
                <a:cs typeface="Arial"/>
              </a:defRPr>
            </a:pPr>
            <a:r>
              <a:rPr sz="1575" b="0">
                <a:solidFill>
                  <a:srgbClr val="15344D"/>
                </a:solidFill>
                <a:latin typeface="Arial"/>
                <a:ea typeface="Arial"/>
                <a:cs typeface="Arial"/>
              </a:rPr>
              <a:t>Cited response from retrieved permitted passages</a:t>
            </a:r>
          </a:p>
        </p:txBody>
      </p:sp>
    </p:spTree>
    <p:extLst>
      <p:ext uri="{BB962C8B-B14F-4D97-AF65-F5344CB8AC3E}">
        <p14:creationId xmlns:p14="http://schemas.microsoft.com/office/powerpoint/2010/main" val="4666998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7A3AFC-622B-4AF4-9EF7-080ACB764A4D}"/>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Code spotlight: route and scope</a:t>
            </a:r>
          </a:p>
        </p:txBody>
      </p:sp>
      <p:sp>
        <p:nvSpPr>
          <p:cNvPr id="2" name="">
            <a:extLst xmlns:a="http://schemas.openxmlformats.org/drawingml/2006/main">
              <a:ext uri="{FF2B5EF4-FFF2-40B4-BE49-F238E27FC236}">
                <a16:creationId xmlns:a16="http://schemas.microsoft.com/office/drawing/2014/main" id="{D8E883B8-346A-4CD0-9E42-E6931A9D30FF}"/>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D8634883-8286-474F-BB15-F559CB668DA0}"/>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5BE3BF04-F5DA-4D4E-9AFF-DE51BF4A336D}"/>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1C249454-3B4B-4DC0-8717-51094492213C}"/>
              </a:ext>
            </a:extLst>
          </p:cNvPr>
          <p:cNvSpPr>
            <a:spLocks xmlns:a="http://schemas.openxmlformats.org/drawingml/2006/main" noGrp="1"/>
          </p:cNvSpPr>
          <p:nvPr/>
        </p:nvSpPr>
        <p:spPr>
          <a:xfrm xmlns:a="http://schemas.openxmlformats.org/drawingml/2006/main">
            <a:off x="647700" y="15716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5344D"/>
                </a:solidFill>
                <a:latin typeface="Arial"/>
                <a:ea typeface="Arial"/>
                <a:cs typeface="Arial"/>
              </a:defRPr>
            </a:pPr>
            <a:r>
              <a:rPr sz="1950" b="0">
                <a:solidFill>
                  <a:srgbClr val="15344D"/>
                </a:solidFill>
                <a:latin typeface="Arial"/>
                <a:ea typeface="Arial"/>
                <a:cs typeface="Arial"/>
              </a:rPr>
              <a:t>In app.py, HR questions use the MCP route. Other questions use the local index.</a:t>
            </a:r>
          </a:p>
        </p:txBody>
      </p:sp>
      <p:sp>
        <p:nvSpPr>
          <p:cNvPr id="6" name="">
            <a:extLst xmlns:a="http://schemas.openxmlformats.org/drawingml/2006/main">
              <a:ext uri="{FF2B5EF4-FFF2-40B4-BE49-F238E27FC236}">
                <a16:creationId xmlns:a16="http://schemas.microsoft.com/office/drawing/2014/main" id="{C50D8914-856E-4F5C-A945-A03ECE81864D}"/>
              </a:ext>
            </a:extLst>
          </p:cNvPr>
          <p:cNvSpPr>
            <a:spLocks xmlns:a="http://schemas.openxmlformats.org/drawingml/2006/main" noGrp="1"/>
          </p:cNvSpPr>
          <p:nvPr/>
        </p:nvSpPr>
        <p:spPr>
          <a:xfrm xmlns:a="http://schemas.openxmlformats.org/drawingml/2006/main">
            <a:off x="647700" y="2324100"/>
            <a:ext cx="10839450" cy="2209800"/>
          </a:xfrm>
          <a:prstGeom xmlns:a="http://schemas.openxmlformats.org/drawingml/2006/main" prst="roundRect">
            <a:avLst>
              <a:gd name="adj" fmla="val 5172"/>
            </a:avLst>
          </a:prstGeom>
          <a:solidFill xmlns:a="http://schemas.openxmlformats.org/drawingml/2006/main">
            <a:srgbClr val="051C38"/>
          </a:solidFill>
          <a:ln xmlns:a="http://schemas.openxmlformats.org/drawingml/2006/main" w="0">
            <a:solidFill>
              <a:srgbClr val="051C38"/>
            </a:solidFill>
            <a:prstDash val="solid"/>
          </a:ln>
        </p:spPr>
      </p:sp>
      <p:sp>
        <p:nvSpPr>
          <p:cNvPr id="7" name="">
            <a:extLst xmlns:a="http://schemas.openxmlformats.org/drawingml/2006/main">
              <a:ext uri="{FF2B5EF4-FFF2-40B4-BE49-F238E27FC236}">
                <a16:creationId xmlns:a16="http://schemas.microsoft.com/office/drawing/2014/main" id="{5C7BF8FE-88FF-408E-B7D9-98AE5E753DF1}"/>
              </a:ext>
            </a:extLst>
          </p:cNvPr>
          <p:cNvSpPr>
            <a:spLocks xmlns:a="http://schemas.openxmlformats.org/drawingml/2006/main" noGrp="1"/>
          </p:cNvSpPr>
          <p:nvPr/>
        </p:nvSpPr>
        <p:spPr>
          <a:xfrm xmlns:a="http://schemas.openxmlformats.org/drawingml/2006/main">
            <a:off x="914400" y="2495550"/>
            <a:ext cx="103060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E7F5FD"/>
                </a:solidFill>
                <a:latin typeface="Consolas"/>
                <a:ea typeface="Consolas"/>
                <a:cs typeface="Consolas"/>
              </a:defRPr>
            </a:pPr>
            <a:r>
              <a:rPr sz="1575" b="0">
                <a:solidFill>
                  <a:srgbClr val="E7F5FD"/>
                </a:solidFill>
                <a:latin typeface="Consolas"/>
                <a:ea typeface="Consolas"/>
                <a:cs typeface="Consolas"/>
              </a:rPr>
              <a:t>department = k.classify_query(question, requested_department)</a:t>
            </a:r>
          </a:p>
          <a:p xmlns:a="http://schemas.openxmlformats.org/drawingml/2006/main">
            <a:pPr algn="l">
              <a:defRPr sz="1575" b="0">
                <a:solidFill>
                  <a:srgbClr val="E7F5FD"/>
                </a:solidFill>
                <a:latin typeface="Consolas"/>
                <a:ea typeface="Consolas"/>
                <a:cs typeface="Consolas"/>
              </a:defRPr>
            </a:pPr>
            <a:r>
              <a:rPr sz="1575" b="0">
                <a:solidFill>
                  <a:srgbClr val="E7F5FD"/>
                </a:solidFill>
                <a:latin typeface="Consolas"/>
                <a:ea typeface="Consolas"/>
                <a:cs typeface="Consolas"/>
              </a:rPr>
              <a:t>route = "MCP curated knowledge" if department == "HR" else "Local hybrid index"</a:t>
            </a:r>
          </a:p>
          <a:p xmlns:a="http://schemas.openxmlformats.org/drawingml/2006/main">
            <a:r>
              <a:t/>
            </a:r>
          </a:p>
          <a:p xmlns:a="http://schemas.openxmlformats.org/drawingml/2006/main">
            <a:pPr algn="l">
              <a:defRPr sz="1575" b="0">
                <a:solidFill>
                  <a:srgbClr val="E7F5FD"/>
                </a:solidFill>
                <a:latin typeface="Consolas"/>
                <a:ea typeface="Consolas"/>
                <a:cs typeface="Consolas"/>
              </a:defRPr>
            </a:pPr>
            <a:r>
              <a:rPr sz="1575" b="0">
                <a:solidFill>
                  <a:srgbClr val="E7F5FD"/>
                </a:solidFill>
                <a:latin typeface="Consolas"/>
                <a:ea typeface="Consolas"/>
                <a:cs typeface="Consolas"/>
              </a:rPr>
              <a:t># After the MCP call:</a:t>
            </a:r>
          </a:p>
          <a:p xmlns:a="http://schemas.openxmlformats.org/drawingml/2006/main">
            <a:pPr algn="l">
              <a:defRPr sz="1575" b="0">
                <a:solidFill>
                  <a:srgbClr val="E7F5FD"/>
                </a:solidFill>
                <a:latin typeface="Consolas"/>
                <a:ea typeface="Consolas"/>
                <a:cs typeface="Consolas"/>
              </a:defRPr>
            </a:pPr>
            <a:r>
              <a:rPr sz="1575" b="0">
                <a:solidFill>
                  <a:srgbClr val="E7F5FD"/>
                </a:solidFill>
                <a:latin typeface="Consolas"/>
                <a:ea typeface="Consolas"/>
                <a:cs typeface="Consolas"/>
              </a:rPr>
              <a:t>matches = [s for s in matches if k.can_access(user, s)]</a:t>
            </a:r>
          </a:p>
        </p:txBody>
      </p:sp>
      <p:sp>
        <p:nvSpPr>
          <p:cNvPr id="8" name="">
            <a:extLst xmlns:a="http://schemas.openxmlformats.org/drawingml/2006/main">
              <a:ext uri="{FF2B5EF4-FFF2-40B4-BE49-F238E27FC236}">
                <a16:creationId xmlns:a16="http://schemas.microsoft.com/office/drawing/2014/main" id="{DD8D6637-B64A-432C-9B99-ABB90E6C5229}"/>
              </a:ext>
            </a:extLst>
          </p:cNvPr>
          <p:cNvSpPr>
            <a:spLocks xmlns:a="http://schemas.openxmlformats.org/drawingml/2006/main" noGrp="1"/>
          </p:cNvSpPr>
          <p:nvPr/>
        </p:nvSpPr>
        <p:spPr>
          <a:xfrm xmlns:a="http://schemas.openxmlformats.org/drawingml/2006/main">
            <a:off x="723900" y="49339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62B54"/>
                </a:solidFill>
                <a:latin typeface="Arial"/>
                <a:ea typeface="Arial"/>
                <a:cs typeface="Arial"/>
              </a:defRPr>
            </a:pPr>
            <a:r>
              <a:rPr sz="2100" b="1">
                <a:solidFill>
                  <a:srgbClr val="062B54"/>
                </a:solidFill>
                <a:latin typeface="Arial"/>
                <a:ea typeface="Arial"/>
                <a:cs typeface="Arial"/>
              </a:rPr>
              <a:t>The second access check protects the application even after data crosses the connector boundary.</a:t>
            </a:r>
          </a:p>
        </p:txBody>
      </p:sp>
    </p:spTree>
    <p:extLst>
      <p:ext uri="{BB962C8B-B14F-4D97-AF65-F5344CB8AC3E}">
        <p14:creationId xmlns:p14="http://schemas.microsoft.com/office/powerpoint/2010/main" val="5130242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F4AD85-0BC7-4C75-99C6-4342CDC56F19}"/>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How to use: prepare knowledge</a:t>
            </a:r>
          </a:p>
        </p:txBody>
      </p:sp>
      <p:sp>
        <p:nvSpPr>
          <p:cNvPr id="2" name="">
            <a:extLst xmlns:a="http://schemas.openxmlformats.org/drawingml/2006/main">
              <a:ext uri="{FF2B5EF4-FFF2-40B4-BE49-F238E27FC236}">
                <a16:creationId xmlns:a16="http://schemas.microsoft.com/office/drawing/2014/main" id="{5BFB3880-F558-45E1-8DBB-2F384B68F4E1}"/>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BEB502D1-D866-4143-8C66-23575AC3C52E}"/>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A98EEA6D-D4B3-45B0-9476-3F8EB5EB2A8C}"/>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632E70D-AB4F-4546-9A4E-AC0FBE43D270}"/>
              </a:ext>
            </a:extLst>
          </p:cNvPr>
          <p:cNvSpPr>
            <a:spLocks xmlns:a="http://schemas.openxmlformats.org/drawingml/2006/main" noGrp="1"/>
          </p:cNvSpPr>
          <p:nvPr/>
        </p:nvSpPr>
        <p:spPr>
          <a:xfrm xmlns:a="http://schemas.openxmlformats.org/drawingml/2006/main">
            <a:off x="638175" y="17716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1  Sign in as administrator</a:t>
            </a:r>
          </a:p>
        </p:txBody>
      </p:sp>
      <p:sp>
        <p:nvSpPr>
          <p:cNvPr id="6" name="">
            <a:extLst xmlns:a="http://schemas.openxmlformats.org/drawingml/2006/main">
              <a:ext uri="{FF2B5EF4-FFF2-40B4-BE49-F238E27FC236}">
                <a16:creationId xmlns:a16="http://schemas.microsoft.com/office/drawing/2014/main" id="{D9144CB5-BA30-40F6-BFF0-F09190C1B039}"/>
              </a:ext>
            </a:extLst>
          </p:cNvPr>
          <p:cNvSpPr>
            <a:spLocks xmlns:a="http://schemas.openxmlformats.org/drawingml/2006/main" noGrp="1"/>
          </p:cNvSpPr>
          <p:nvPr/>
        </p:nvSpPr>
        <p:spPr>
          <a:xfrm xmlns:a="http://schemas.openxmlformats.org/drawingml/2006/main">
            <a:off x="638175" y="2619375"/>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2  Open Knowledge library</a:t>
            </a:r>
          </a:p>
        </p:txBody>
      </p:sp>
      <p:sp>
        <p:nvSpPr>
          <p:cNvPr id="7" name="">
            <a:extLst xmlns:a="http://schemas.openxmlformats.org/drawingml/2006/main">
              <a:ext uri="{FF2B5EF4-FFF2-40B4-BE49-F238E27FC236}">
                <a16:creationId xmlns:a16="http://schemas.microsoft.com/office/drawing/2014/main" id="{8D97AEBF-6E93-405E-B300-1E5A6FF14287}"/>
              </a:ext>
            </a:extLst>
          </p:cNvPr>
          <p:cNvSpPr>
            <a:spLocks xmlns:a="http://schemas.openxmlformats.org/drawingml/2006/main" noGrp="1"/>
          </p:cNvSpPr>
          <p:nvPr/>
        </p:nvSpPr>
        <p:spPr>
          <a:xfrm xmlns:a="http://schemas.openxmlformats.org/drawingml/2006/main">
            <a:off x="638175" y="3476625"/>
            <a:ext cx="366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3  Set department, access and owner</a:t>
            </a:r>
          </a:p>
        </p:txBody>
      </p:sp>
      <p:sp>
        <p:nvSpPr>
          <p:cNvPr id="8" name="">
            <a:extLst xmlns:a="http://schemas.openxmlformats.org/drawingml/2006/main">
              <a:ext uri="{FF2B5EF4-FFF2-40B4-BE49-F238E27FC236}">
                <a16:creationId xmlns:a16="http://schemas.microsoft.com/office/drawing/2014/main" id="{12B348FE-F4E4-40A2-8B41-580E92F8CDA8}"/>
              </a:ext>
            </a:extLst>
          </p:cNvPr>
          <p:cNvSpPr>
            <a:spLocks xmlns:a="http://schemas.openxmlformats.org/drawingml/2006/main" noGrp="1"/>
          </p:cNvSpPr>
          <p:nvPr/>
        </p:nvSpPr>
        <p:spPr>
          <a:xfrm xmlns:a="http://schemas.openxmlformats.org/drawingml/2006/main">
            <a:off x="638175" y="47053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4  Validate and index</a:t>
            </a:r>
          </a:p>
        </p:txBody>
      </p:sp>
      <p:sp>
        <p:nvSpPr>
          <p:cNvPr id="9" name="">
            <a:extLst xmlns:a="http://schemas.openxmlformats.org/drawingml/2006/main">
              <a:ext uri="{FF2B5EF4-FFF2-40B4-BE49-F238E27FC236}">
                <a16:creationId xmlns:a16="http://schemas.microsoft.com/office/drawing/2014/main" id="{18A19D44-D2B5-4B14-A4F6-C0CB4E83F6B3}"/>
              </a:ext>
            </a:extLst>
          </p:cNvPr>
          <p:cNvSpPr>
            <a:spLocks xmlns:a="http://schemas.openxmlformats.org/drawingml/2006/main" noGrp="1"/>
          </p:cNvSpPr>
          <p:nvPr/>
        </p:nvSpPr>
        <p:spPr>
          <a:xfrm xmlns:a="http://schemas.openxmlformats.org/drawingml/2006/main">
            <a:off x="4505325" y="1628775"/>
            <a:ext cx="6981825" cy="4114800"/>
          </a:xfrm>
          <a:prstGeom xmlns:a="http://schemas.openxmlformats.org/drawingml/2006/main" prst="roundRect">
            <a:avLst>
              <a:gd name="adj" fmla="val 1852"/>
            </a:avLst>
          </a:prstGeom>
          <a:solidFill xmlns:a="http://schemas.openxmlformats.org/drawingml/2006/main">
            <a:srgbClr val="FFFFFF"/>
          </a:solidFill>
          <a:ln xmlns:a="http://schemas.openxmlformats.org/drawingml/2006/main" w="19050">
            <a:solidFill>
              <a:srgbClr val="D7E7E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acc7a5217274a77"/>
          <a:stretch xmlns:a="http://schemas.openxmlformats.org/drawingml/2006/main"/>
        </p:blipFill>
        <p:spPr>
          <a:xfrm xmlns:a="http://schemas.openxmlformats.org/drawingml/2006/main">
            <a:off x="4524375" y="1991070"/>
            <a:ext cx="6943725" cy="339021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459FCD6-EC79-4116-8B06-447A0498EFDC}"/>
              </a:ext>
            </a:extLst>
          </p:cNvPr>
          <p:cNvSpPr>
            <a:spLocks xmlns:a="http://schemas.openxmlformats.org/drawingml/2006/main" noGrp="1"/>
          </p:cNvSpPr>
          <p:nvPr/>
        </p:nvSpPr>
        <p:spPr>
          <a:xfrm xmlns:a="http://schemas.openxmlformats.org/drawingml/2006/main">
            <a:off x="676275" y="581025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C7184"/>
                </a:solidFill>
                <a:latin typeface="Arial"/>
                <a:ea typeface="Arial"/>
                <a:cs typeface="Arial"/>
              </a:defRPr>
            </a:pPr>
            <a:r>
              <a:rPr sz="1575" b="0">
                <a:solidFill>
                  <a:srgbClr val="5C7184"/>
                </a:solidFill>
                <a:latin typeface="Arial"/>
                <a:ea typeface="Arial"/>
                <a:cs typeface="Arial"/>
              </a:rPr>
              <a:t>The screen shows the demo upload form. Use only approved material.</a:t>
            </a:r>
          </a:p>
        </p:txBody>
      </p:sp>
    </p:spTree>
    <p:extLst>
      <p:ext uri="{BB962C8B-B14F-4D97-AF65-F5344CB8AC3E}">
        <p14:creationId xmlns:p14="http://schemas.microsoft.com/office/powerpoint/2010/main" val="2307179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359D1E-3FF7-401D-8CD0-553E70BEEBAC}"/>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How to use: ask and verify</a:t>
            </a:r>
          </a:p>
        </p:txBody>
      </p:sp>
      <p:sp>
        <p:nvSpPr>
          <p:cNvPr id="2" name="">
            <a:extLst xmlns:a="http://schemas.openxmlformats.org/drawingml/2006/main">
              <a:ext uri="{FF2B5EF4-FFF2-40B4-BE49-F238E27FC236}">
                <a16:creationId xmlns:a16="http://schemas.microsoft.com/office/drawing/2014/main" id="{4EF2D3C5-8700-489F-9F3A-83C12574B0B9}"/>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6D8154FD-9DF1-4F41-AA09-36CB4CB39B47}"/>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2DAD6BFC-1D9B-4B83-8218-CB12A410BCAF}"/>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0C4CA10-ED9A-4698-8132-E0AFDE74D92C}"/>
              </a:ext>
            </a:extLst>
          </p:cNvPr>
          <p:cNvSpPr>
            <a:spLocks xmlns:a="http://schemas.openxmlformats.org/drawingml/2006/main" noGrp="1"/>
          </p:cNvSpPr>
          <p:nvPr/>
        </p:nvSpPr>
        <p:spPr>
          <a:xfrm xmlns:a="http://schemas.openxmlformats.org/drawingml/2006/main">
            <a:off x="685800" y="1800225"/>
            <a:ext cx="4048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62B54"/>
                </a:solidFill>
                <a:latin typeface="Arial"/>
                <a:ea typeface="Arial"/>
                <a:cs typeface="Arial"/>
              </a:defRPr>
            </a:pPr>
            <a:r>
              <a:rPr sz="2175" b="1">
                <a:solidFill>
                  <a:srgbClr val="062B54"/>
                </a:solidFill>
                <a:latin typeface="Arial"/>
                <a:ea typeface="Arial"/>
                <a:cs typeface="Arial"/>
              </a:rPr>
              <a:t>1  Enter a question</a:t>
            </a:r>
          </a:p>
        </p:txBody>
      </p:sp>
      <p:sp>
        <p:nvSpPr>
          <p:cNvPr id="6" name="">
            <a:extLst xmlns:a="http://schemas.openxmlformats.org/drawingml/2006/main">
              <a:ext uri="{FF2B5EF4-FFF2-40B4-BE49-F238E27FC236}">
                <a16:creationId xmlns:a16="http://schemas.microsoft.com/office/drawing/2014/main" id="{F849C7B8-B51B-4713-B26B-DAF28D453B62}"/>
              </a:ext>
            </a:extLst>
          </p:cNvPr>
          <p:cNvSpPr>
            <a:spLocks xmlns:a="http://schemas.openxmlformats.org/drawingml/2006/main" noGrp="1"/>
          </p:cNvSpPr>
          <p:nvPr/>
        </p:nvSpPr>
        <p:spPr>
          <a:xfrm xmlns:a="http://schemas.openxmlformats.org/drawingml/2006/main">
            <a:off x="685800" y="2695575"/>
            <a:ext cx="4048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62B54"/>
                </a:solidFill>
                <a:latin typeface="Arial"/>
                <a:ea typeface="Arial"/>
                <a:cs typeface="Arial"/>
              </a:defRPr>
            </a:pPr>
            <a:r>
              <a:rPr sz="2175" b="1">
                <a:solidFill>
                  <a:srgbClr val="062B54"/>
                </a:solidFill>
                <a:latin typeface="Arial"/>
                <a:ea typeface="Arial"/>
                <a:cs typeface="Arial"/>
              </a:rPr>
              <a:t>2  Read the answer and route</a:t>
            </a:r>
          </a:p>
        </p:txBody>
      </p:sp>
      <p:sp>
        <p:nvSpPr>
          <p:cNvPr id="7" name="">
            <a:extLst xmlns:a="http://schemas.openxmlformats.org/drawingml/2006/main">
              <a:ext uri="{FF2B5EF4-FFF2-40B4-BE49-F238E27FC236}">
                <a16:creationId xmlns:a16="http://schemas.microsoft.com/office/drawing/2014/main" id="{00F93767-E3F1-41D1-90A5-F9CF89CD8061}"/>
              </a:ext>
            </a:extLst>
          </p:cNvPr>
          <p:cNvSpPr>
            <a:spLocks xmlns:a="http://schemas.openxmlformats.org/drawingml/2006/main" noGrp="1"/>
          </p:cNvSpPr>
          <p:nvPr/>
        </p:nvSpPr>
        <p:spPr>
          <a:xfrm xmlns:a="http://schemas.openxmlformats.org/drawingml/2006/main">
            <a:off x="685800" y="3705225"/>
            <a:ext cx="4048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62B54"/>
                </a:solidFill>
                <a:latin typeface="Arial"/>
                <a:ea typeface="Arial"/>
                <a:cs typeface="Arial"/>
              </a:defRPr>
            </a:pPr>
            <a:r>
              <a:rPr sz="2175" b="1">
                <a:solidFill>
                  <a:srgbClr val="062B54"/>
                </a:solidFill>
                <a:latin typeface="Arial"/>
                <a:ea typeface="Arial"/>
                <a:cs typeface="Arial"/>
              </a:rPr>
              <a:t>3  Open citation [1] for the source</a:t>
            </a:r>
          </a:p>
        </p:txBody>
      </p:sp>
      <p:sp>
        <p:nvSpPr>
          <p:cNvPr id="8" name="">
            <a:extLst xmlns:a="http://schemas.openxmlformats.org/drawingml/2006/main">
              <a:ext uri="{FF2B5EF4-FFF2-40B4-BE49-F238E27FC236}">
                <a16:creationId xmlns:a16="http://schemas.microsoft.com/office/drawing/2014/main" id="{A3DF9937-A2B7-445C-BC97-F6A9D4F08A77}"/>
              </a:ext>
            </a:extLst>
          </p:cNvPr>
          <p:cNvSpPr>
            <a:spLocks xmlns:a="http://schemas.openxmlformats.org/drawingml/2006/main" noGrp="1"/>
          </p:cNvSpPr>
          <p:nvPr/>
        </p:nvSpPr>
        <p:spPr>
          <a:xfrm xmlns:a="http://schemas.openxmlformats.org/drawingml/2006/main">
            <a:off x="685800" y="4914900"/>
            <a:ext cx="4048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62B54"/>
                </a:solidFill>
                <a:latin typeface="Arial"/>
                <a:ea typeface="Arial"/>
                <a:cs typeface="Arial"/>
              </a:defRPr>
            </a:pPr>
            <a:r>
              <a:rPr sz="2175" b="1">
                <a:solidFill>
                  <a:srgbClr val="062B54"/>
                </a:solidFill>
                <a:latin typeface="Arial"/>
                <a:ea typeface="Arial"/>
                <a:cs typeface="Arial"/>
              </a:rPr>
              <a:t>4  Rate the answer</a:t>
            </a:r>
          </a:p>
        </p:txBody>
      </p:sp>
      <p:sp>
        <p:nvSpPr>
          <p:cNvPr id="9" name="">
            <a:extLst xmlns:a="http://schemas.openxmlformats.org/drawingml/2006/main">
              <a:ext uri="{FF2B5EF4-FFF2-40B4-BE49-F238E27FC236}">
                <a16:creationId xmlns:a16="http://schemas.microsoft.com/office/drawing/2014/main" id="{114F1115-CDD2-4DBA-B8AA-35FB89281FED}"/>
              </a:ext>
            </a:extLst>
          </p:cNvPr>
          <p:cNvSpPr>
            <a:spLocks xmlns:a="http://schemas.openxmlformats.org/drawingml/2006/main" noGrp="1"/>
          </p:cNvSpPr>
          <p:nvPr/>
        </p:nvSpPr>
        <p:spPr>
          <a:xfrm xmlns:a="http://schemas.openxmlformats.org/drawingml/2006/main">
            <a:off x="5124450" y="1638300"/>
            <a:ext cx="6457950" cy="4048125"/>
          </a:xfrm>
          <a:prstGeom xmlns:a="http://schemas.openxmlformats.org/drawingml/2006/main" prst="roundRect">
            <a:avLst>
              <a:gd name="adj" fmla="val 1882"/>
            </a:avLst>
          </a:prstGeom>
          <a:solidFill xmlns:a="http://schemas.openxmlformats.org/drawingml/2006/main">
            <a:srgbClr val="FFFFFF"/>
          </a:solidFill>
          <a:ln xmlns:a="http://schemas.openxmlformats.org/drawingml/2006/main" w="19050">
            <a:solidFill>
              <a:srgbClr val="D7E7E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1e04611201f4321"/>
          <a:stretch xmlns:a="http://schemas.openxmlformats.org/drawingml/2006/main"/>
        </p:blipFill>
        <p:spPr>
          <a:xfrm xmlns:a="http://schemas.openxmlformats.org/drawingml/2006/main">
            <a:off x="5143500" y="1669995"/>
            <a:ext cx="6419850" cy="3984734"/>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7483299-42C9-4007-B6D4-F7319C3C6EBB}"/>
              </a:ext>
            </a:extLst>
          </p:cNvPr>
          <p:cNvSpPr>
            <a:spLocks xmlns:a="http://schemas.openxmlformats.org/drawingml/2006/main" noGrp="1"/>
          </p:cNvSpPr>
          <p:nvPr/>
        </p:nvSpPr>
        <p:spPr>
          <a:xfrm xmlns:a="http://schemas.openxmlformats.org/drawingml/2006/main">
            <a:off x="685800" y="57912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C7184"/>
                </a:solidFill>
                <a:latin typeface="Arial"/>
                <a:ea typeface="Arial"/>
                <a:cs typeface="Arial"/>
              </a:defRPr>
            </a:pPr>
            <a:r>
              <a:rPr sz="1575" b="0">
                <a:solidFill>
                  <a:srgbClr val="5C7184"/>
                </a:solidFill>
                <a:latin typeface="Arial"/>
                <a:ea typeface="Arial"/>
                <a:cs typeface="Arial"/>
              </a:rPr>
              <a:t>Example: annual leave, answered from a fictional HR policy.</a:t>
            </a:r>
          </a:p>
        </p:txBody>
      </p:sp>
    </p:spTree>
    <p:extLst>
      <p:ext uri="{BB962C8B-B14F-4D97-AF65-F5344CB8AC3E}">
        <p14:creationId xmlns:p14="http://schemas.microsoft.com/office/powerpoint/2010/main" val="20983316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15FCE1-9DF5-49BB-9B5D-7A0574FCDD0B}"/>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Enterprise problems it can address</a:t>
            </a:r>
          </a:p>
        </p:txBody>
      </p:sp>
      <p:sp>
        <p:nvSpPr>
          <p:cNvPr id="2" name="">
            <a:extLst xmlns:a="http://schemas.openxmlformats.org/drawingml/2006/main">
              <a:ext uri="{FF2B5EF4-FFF2-40B4-BE49-F238E27FC236}">
                <a16:creationId xmlns:a16="http://schemas.microsoft.com/office/drawing/2014/main" id="{6A14A938-8436-4418-98EF-FE5C40152F9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45670283-7170-40A6-A228-572F8393805F}"/>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E50E35B4-268A-45FF-86F9-6BF87FD273A2}"/>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BD4F5DDE-0866-4F77-9292-B50111203044}"/>
              </a:ext>
            </a:extLst>
          </p:cNvPr>
          <p:cNvSpPr>
            <a:spLocks xmlns:a="http://schemas.openxmlformats.org/drawingml/2006/main" noGrp="1"/>
          </p:cNvSpPr>
          <p:nvPr/>
        </p:nvSpPr>
        <p:spPr>
          <a:xfrm xmlns:a="http://schemas.openxmlformats.org/drawingml/2006/main">
            <a:off x="704850" y="16478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62B54"/>
                </a:solidFill>
                <a:latin typeface="Arial"/>
                <a:ea typeface="Arial"/>
                <a:cs typeface="Arial"/>
              </a:defRPr>
            </a:pPr>
            <a:r>
              <a:rPr sz="2175" b="1">
                <a:solidFill>
                  <a:srgbClr val="062B54"/>
                </a:solidFill>
                <a:latin typeface="Arial"/>
                <a:ea typeface="Arial"/>
                <a:cs typeface="Arial"/>
              </a:rPr>
              <a:t>Policy lookup</a:t>
            </a:r>
          </a:p>
        </p:txBody>
      </p:sp>
      <p:sp>
        <p:nvSpPr>
          <p:cNvPr id="6" name="">
            <a:extLst xmlns:a="http://schemas.openxmlformats.org/drawingml/2006/main">
              <a:ext uri="{FF2B5EF4-FFF2-40B4-BE49-F238E27FC236}">
                <a16:creationId xmlns:a16="http://schemas.microsoft.com/office/drawing/2014/main" id="{6BDEFDA9-E272-48A8-A810-638DDCB64955}"/>
              </a:ext>
            </a:extLst>
          </p:cNvPr>
          <p:cNvSpPr>
            <a:spLocks xmlns:a="http://schemas.openxmlformats.org/drawingml/2006/main" noGrp="1"/>
          </p:cNvSpPr>
          <p:nvPr/>
        </p:nvSpPr>
        <p:spPr>
          <a:xfrm xmlns:a="http://schemas.openxmlformats.org/drawingml/2006/main">
            <a:off x="704850" y="20955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5344D"/>
                </a:solidFill>
                <a:latin typeface="Arial"/>
                <a:ea typeface="Arial"/>
                <a:cs typeface="Arial"/>
              </a:defRPr>
            </a:pPr>
            <a:r>
              <a:rPr sz="1875" b="0">
                <a:solidFill>
                  <a:srgbClr val="15344D"/>
                </a:solidFill>
                <a:latin typeface="Arial"/>
                <a:ea typeface="Arial"/>
                <a:cs typeface="Arial"/>
              </a:rPr>
              <a:t>Find a procedure, then inspect the cited policy passage.</a:t>
            </a:r>
          </a:p>
        </p:txBody>
      </p:sp>
      <p:sp>
        <p:nvSpPr>
          <p:cNvPr id="7" name="">
            <a:extLst xmlns:a="http://schemas.openxmlformats.org/drawingml/2006/main">
              <a:ext uri="{FF2B5EF4-FFF2-40B4-BE49-F238E27FC236}">
                <a16:creationId xmlns:a16="http://schemas.microsoft.com/office/drawing/2014/main" id="{B98F8BDB-A045-4E67-9251-1E629DB25857}"/>
              </a:ext>
            </a:extLst>
          </p:cNvPr>
          <p:cNvSpPr>
            <a:spLocks xmlns:a="http://schemas.openxmlformats.org/drawingml/2006/main" noGrp="1"/>
          </p:cNvSpPr>
          <p:nvPr/>
        </p:nvSpPr>
        <p:spPr>
          <a:xfrm xmlns:a="http://schemas.openxmlformats.org/drawingml/2006/main">
            <a:off x="704850" y="31051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62B54"/>
                </a:solidFill>
                <a:latin typeface="Arial"/>
                <a:ea typeface="Arial"/>
                <a:cs typeface="Arial"/>
              </a:defRPr>
            </a:pPr>
            <a:r>
              <a:rPr sz="2175" b="1">
                <a:solidFill>
                  <a:srgbClr val="062B54"/>
                </a:solidFill>
                <a:latin typeface="Arial"/>
                <a:ea typeface="Arial"/>
                <a:cs typeface="Arial"/>
              </a:rPr>
              <a:t>Operational knowledge</a:t>
            </a:r>
          </a:p>
        </p:txBody>
      </p:sp>
      <p:sp>
        <p:nvSpPr>
          <p:cNvPr id="8" name="">
            <a:extLst xmlns:a="http://schemas.openxmlformats.org/drawingml/2006/main">
              <a:ext uri="{FF2B5EF4-FFF2-40B4-BE49-F238E27FC236}">
                <a16:creationId xmlns:a16="http://schemas.microsoft.com/office/drawing/2014/main" id="{6ABA792B-F3AD-4FEB-B313-CA4A32D0B7FB}"/>
              </a:ext>
            </a:extLst>
          </p:cNvPr>
          <p:cNvSpPr>
            <a:spLocks xmlns:a="http://schemas.openxmlformats.org/drawingml/2006/main" noGrp="1"/>
          </p:cNvSpPr>
          <p:nvPr/>
        </p:nvSpPr>
        <p:spPr>
          <a:xfrm xmlns:a="http://schemas.openxmlformats.org/drawingml/2006/main">
            <a:off x="704850" y="35623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5344D"/>
                </a:solidFill>
                <a:latin typeface="Arial"/>
                <a:ea typeface="Arial"/>
                <a:cs typeface="Arial"/>
              </a:defRPr>
            </a:pPr>
            <a:r>
              <a:rPr sz="1875" b="0">
                <a:solidFill>
                  <a:srgbClr val="15344D"/>
                </a:solidFill>
                <a:latin typeface="Arial"/>
                <a:ea typeface="Arial"/>
                <a:cs typeface="Arial"/>
              </a:rPr>
              <a:t>Open the right runbook section during an incident.</a:t>
            </a:r>
          </a:p>
        </p:txBody>
      </p:sp>
      <p:sp>
        <p:nvSpPr>
          <p:cNvPr id="9" name="">
            <a:extLst xmlns:a="http://schemas.openxmlformats.org/drawingml/2006/main">
              <a:ext uri="{FF2B5EF4-FFF2-40B4-BE49-F238E27FC236}">
                <a16:creationId xmlns:a16="http://schemas.microsoft.com/office/drawing/2014/main" id="{6D1ABAA5-B513-4EAA-98F9-5C30B99896A0}"/>
              </a:ext>
            </a:extLst>
          </p:cNvPr>
          <p:cNvSpPr>
            <a:spLocks xmlns:a="http://schemas.openxmlformats.org/drawingml/2006/main" noGrp="1"/>
          </p:cNvSpPr>
          <p:nvPr/>
        </p:nvSpPr>
        <p:spPr>
          <a:xfrm xmlns:a="http://schemas.openxmlformats.org/drawingml/2006/main">
            <a:off x="704850" y="45624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62B54"/>
                </a:solidFill>
                <a:latin typeface="Arial"/>
                <a:ea typeface="Arial"/>
                <a:cs typeface="Arial"/>
              </a:defRPr>
            </a:pPr>
            <a:r>
              <a:rPr sz="2175" b="1">
                <a:solidFill>
                  <a:srgbClr val="062B54"/>
                </a:solidFill>
                <a:latin typeface="Arial"/>
                <a:ea typeface="Arial"/>
                <a:cs typeface="Arial"/>
              </a:rPr>
              <a:t>Controlled access</a:t>
            </a:r>
          </a:p>
        </p:txBody>
      </p:sp>
      <p:sp>
        <p:nvSpPr>
          <p:cNvPr id="10" name="">
            <a:extLst xmlns:a="http://schemas.openxmlformats.org/drawingml/2006/main">
              <a:ext uri="{FF2B5EF4-FFF2-40B4-BE49-F238E27FC236}">
                <a16:creationId xmlns:a16="http://schemas.microsoft.com/office/drawing/2014/main" id="{1DAC1872-9A12-42BE-A114-20A15CCCA868}"/>
              </a:ext>
            </a:extLst>
          </p:cNvPr>
          <p:cNvSpPr>
            <a:spLocks xmlns:a="http://schemas.openxmlformats.org/drawingml/2006/main" noGrp="1"/>
          </p:cNvSpPr>
          <p:nvPr/>
        </p:nvSpPr>
        <p:spPr>
          <a:xfrm xmlns:a="http://schemas.openxmlformats.org/drawingml/2006/main">
            <a:off x="704850" y="501967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5344D"/>
                </a:solidFill>
                <a:latin typeface="Arial"/>
                <a:ea typeface="Arial"/>
                <a:cs typeface="Arial"/>
              </a:defRPr>
            </a:pPr>
            <a:r>
              <a:rPr sz="1875" b="0">
                <a:solidFill>
                  <a:srgbClr val="15344D"/>
                </a:solidFill>
                <a:latin typeface="Arial"/>
                <a:ea typeface="Arial"/>
                <a:cs typeface="Arial"/>
              </a:rPr>
              <a:t>Keep department material outside other teams’ answers.</a:t>
            </a:r>
          </a:p>
        </p:txBody>
      </p:sp>
      <p:sp>
        <p:nvSpPr>
          <p:cNvPr id="11" name="">
            <a:extLst xmlns:a="http://schemas.openxmlformats.org/drawingml/2006/main">
              <a:ext uri="{FF2B5EF4-FFF2-40B4-BE49-F238E27FC236}">
                <a16:creationId xmlns:a16="http://schemas.microsoft.com/office/drawing/2014/main" id="{03BC2FF4-EE66-4699-A078-89239CCFD305}"/>
              </a:ext>
            </a:extLst>
          </p:cNvPr>
          <p:cNvSpPr>
            <a:spLocks xmlns:a="http://schemas.openxmlformats.org/drawingml/2006/main" noGrp="1"/>
          </p:cNvSpPr>
          <p:nvPr/>
        </p:nvSpPr>
        <p:spPr>
          <a:xfrm xmlns:a="http://schemas.openxmlformats.org/drawingml/2006/main">
            <a:off x="5895975" y="1581150"/>
            <a:ext cx="5638800" cy="4086225"/>
          </a:xfrm>
          <a:prstGeom xmlns:a="http://schemas.openxmlformats.org/drawingml/2006/main" prst="roundRect">
            <a:avLst>
              <a:gd name="adj" fmla="val 1865"/>
            </a:avLst>
          </a:prstGeom>
          <a:solidFill xmlns:a="http://schemas.openxmlformats.org/drawingml/2006/main">
            <a:srgbClr val="FFFFFF"/>
          </a:solidFill>
          <a:ln xmlns:a="http://schemas.openxmlformats.org/drawingml/2006/main" w="19050">
            <a:solidFill>
              <a:srgbClr val="D7E7EF"/>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d730060e32e4512"/>
          <a:stretch xmlns:a="http://schemas.openxmlformats.org/drawingml/2006/main"/>
        </p:blipFill>
        <p:spPr>
          <a:xfrm xmlns:a="http://schemas.openxmlformats.org/drawingml/2006/main">
            <a:off x="6383303" y="1600200"/>
            <a:ext cx="4664144" cy="40481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93683B25-4F88-46E2-BB70-54B5CF4E7DA5}"/>
              </a:ext>
            </a:extLst>
          </p:cNvPr>
          <p:cNvSpPr>
            <a:spLocks xmlns:a="http://schemas.openxmlformats.org/drawingml/2006/main" noGrp="1"/>
          </p:cNvSpPr>
          <p:nvPr/>
        </p:nvSpPr>
        <p:spPr>
          <a:xfrm xmlns:a="http://schemas.openxmlformats.org/drawingml/2006/main">
            <a:off x="6229350" y="5743575"/>
            <a:ext cx="5019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5C7184"/>
                </a:solidFill>
                <a:latin typeface="Arial"/>
                <a:ea typeface="Arial"/>
                <a:cs typeface="Arial"/>
              </a:defRPr>
            </a:pPr>
            <a:r>
              <a:rPr sz="1500" b="0">
                <a:solidFill>
                  <a:srgbClr val="5C7184"/>
                </a:solidFill>
                <a:latin typeface="Arial"/>
                <a:ea typeface="Arial"/>
                <a:cs typeface="Arial"/>
              </a:rPr>
              <a:t>Source preview from fictional demo content</a:t>
            </a:r>
          </a:p>
        </p:txBody>
      </p:sp>
    </p:spTree>
    <p:extLst>
      <p:ext uri="{BB962C8B-B14F-4D97-AF65-F5344CB8AC3E}">
        <p14:creationId xmlns:p14="http://schemas.microsoft.com/office/powerpoint/2010/main" val="14034611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9907EB-B482-40C2-BB10-546E4513EC72}"/>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Quality signals and verification</a:t>
            </a:r>
          </a:p>
        </p:txBody>
      </p:sp>
      <p:sp>
        <p:nvSpPr>
          <p:cNvPr id="2" name="">
            <a:extLst xmlns:a="http://schemas.openxmlformats.org/drawingml/2006/main">
              <a:ext uri="{FF2B5EF4-FFF2-40B4-BE49-F238E27FC236}">
                <a16:creationId xmlns:a16="http://schemas.microsoft.com/office/drawing/2014/main" id="{65E0319D-DC96-4B26-8BF2-D029CAD47273}"/>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D3B538C6-D3DF-4053-BDE1-803AA6F5CE7B}"/>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6C06472F-6B8B-4FE9-96C3-98119A54E5E5}"/>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724E969-1B68-4B42-902E-4529A13CDF47}"/>
              </a:ext>
            </a:extLst>
          </p:cNvPr>
          <p:cNvSpPr>
            <a:spLocks xmlns:a="http://schemas.openxmlformats.org/drawingml/2006/main" noGrp="1"/>
          </p:cNvSpPr>
          <p:nvPr/>
        </p:nvSpPr>
        <p:spPr>
          <a:xfrm xmlns:a="http://schemas.openxmlformats.org/drawingml/2006/main">
            <a:off x="676275" y="1619250"/>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62B54"/>
                </a:solidFill>
                <a:latin typeface="Arial"/>
                <a:ea typeface="Arial"/>
                <a:cs typeface="Arial"/>
              </a:defRPr>
            </a:pPr>
            <a:r>
              <a:rPr sz="2250" b="1">
                <a:solidFill>
                  <a:srgbClr val="062B54"/>
                </a:solidFill>
                <a:latin typeface="Arial"/>
                <a:ea typeface="Arial"/>
                <a:cs typeface="Arial"/>
              </a:rPr>
              <a:t>The product records</a:t>
            </a:r>
          </a:p>
        </p:txBody>
      </p:sp>
      <p:sp>
        <p:nvSpPr>
          <p:cNvPr id="6" name="">
            <a:extLst xmlns:a="http://schemas.openxmlformats.org/drawingml/2006/main">
              <a:ext uri="{FF2B5EF4-FFF2-40B4-BE49-F238E27FC236}">
                <a16:creationId xmlns:a16="http://schemas.microsoft.com/office/drawing/2014/main" id="{BCAC1341-ED4A-478E-B017-6CEEDFDAB678}"/>
              </a:ext>
            </a:extLst>
          </p:cNvPr>
          <p:cNvSpPr>
            <a:spLocks xmlns:a="http://schemas.openxmlformats.org/drawingml/2006/main" noGrp="1"/>
          </p:cNvSpPr>
          <p:nvPr/>
        </p:nvSpPr>
        <p:spPr>
          <a:xfrm xmlns:a="http://schemas.openxmlformats.org/drawingml/2006/main">
            <a:off x="676275" y="2114550"/>
            <a:ext cx="41148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5344D"/>
                </a:solidFill>
                <a:latin typeface="Arial"/>
                <a:ea typeface="Arial"/>
                <a:cs typeface="Arial"/>
              </a:defRPr>
            </a:pPr>
            <a:r>
              <a:rPr sz="1875" b="0">
                <a:solidFill>
                  <a:srgbClr val="15344D"/>
                </a:solidFill>
                <a:latin typeface="Arial"/>
                <a:ea typeface="Arial"/>
                <a:cs typeface="Arial"/>
              </a:rPr>
              <a:t>Questions, retrieval routes, citations, no-answer outcomes, connector events and feedback.</a:t>
            </a:r>
          </a:p>
        </p:txBody>
      </p:sp>
      <p:sp>
        <p:nvSpPr>
          <p:cNvPr id="7" name="">
            <a:extLst xmlns:a="http://schemas.openxmlformats.org/drawingml/2006/main">
              <a:ext uri="{FF2B5EF4-FFF2-40B4-BE49-F238E27FC236}">
                <a16:creationId xmlns:a16="http://schemas.microsoft.com/office/drawing/2014/main" id="{AF74A6ED-877B-41B8-8E09-315F0EEDDCD8}"/>
              </a:ext>
            </a:extLst>
          </p:cNvPr>
          <p:cNvSpPr>
            <a:spLocks xmlns:a="http://schemas.openxmlformats.org/drawingml/2006/main" noGrp="1"/>
          </p:cNvSpPr>
          <p:nvPr/>
        </p:nvSpPr>
        <p:spPr>
          <a:xfrm xmlns:a="http://schemas.openxmlformats.org/drawingml/2006/main">
            <a:off x="676275" y="38576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62B54"/>
                </a:solidFill>
                <a:latin typeface="Arial"/>
                <a:ea typeface="Arial"/>
                <a:cs typeface="Arial"/>
              </a:defRPr>
            </a:pPr>
            <a:r>
              <a:rPr sz="2250" b="1">
                <a:solidFill>
                  <a:srgbClr val="062B54"/>
                </a:solidFill>
                <a:latin typeface="Arial"/>
                <a:ea typeface="Arial"/>
                <a:cs typeface="Arial"/>
              </a:rPr>
              <a:t>The codebase checks</a:t>
            </a:r>
          </a:p>
        </p:txBody>
      </p:sp>
      <p:sp>
        <p:nvSpPr>
          <p:cNvPr id="8" name="">
            <a:extLst xmlns:a="http://schemas.openxmlformats.org/drawingml/2006/main">
              <a:ext uri="{FF2B5EF4-FFF2-40B4-BE49-F238E27FC236}">
                <a16:creationId xmlns:a16="http://schemas.microsoft.com/office/drawing/2014/main" id="{CCE68EFE-B6D2-4687-8216-DF31FDB9AD02}"/>
              </a:ext>
            </a:extLst>
          </p:cNvPr>
          <p:cNvSpPr>
            <a:spLocks xmlns:a="http://schemas.openxmlformats.org/drawingml/2006/main" noGrp="1"/>
          </p:cNvSpPr>
          <p:nvPr/>
        </p:nvSpPr>
        <p:spPr>
          <a:xfrm xmlns:a="http://schemas.openxmlformats.org/drawingml/2006/main">
            <a:off x="676275" y="4343400"/>
            <a:ext cx="41148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5344D"/>
                </a:solidFill>
                <a:latin typeface="Arial"/>
                <a:ea typeface="Arial"/>
                <a:cs typeface="Arial"/>
              </a:defRPr>
            </a:pPr>
            <a:r>
              <a:rPr sz="1875" b="0">
                <a:solidFill>
                  <a:srgbClr val="15344D"/>
                </a:solidFill>
                <a:latin typeface="Arial"/>
                <a:ea typeface="Arial"/>
                <a:cs typeface="Arial"/>
              </a:rPr>
              <a:t>Seven workflow tests pass. Six evaluation questions support repeatable local review.</a:t>
            </a:r>
          </a:p>
        </p:txBody>
      </p:sp>
      <p:sp>
        <p:nvSpPr>
          <p:cNvPr id="9" name="">
            <a:extLst xmlns:a="http://schemas.openxmlformats.org/drawingml/2006/main">
              <a:ext uri="{FF2B5EF4-FFF2-40B4-BE49-F238E27FC236}">
                <a16:creationId xmlns:a16="http://schemas.microsoft.com/office/drawing/2014/main" id="{805E5C41-E275-4E49-B078-5772FEF36682}"/>
              </a:ext>
            </a:extLst>
          </p:cNvPr>
          <p:cNvSpPr>
            <a:spLocks xmlns:a="http://schemas.openxmlformats.org/drawingml/2006/main" noGrp="1"/>
          </p:cNvSpPr>
          <p:nvPr/>
        </p:nvSpPr>
        <p:spPr>
          <a:xfrm xmlns:a="http://schemas.openxmlformats.org/drawingml/2006/main">
            <a:off x="5124450" y="1714500"/>
            <a:ext cx="6467475" cy="3724275"/>
          </a:xfrm>
          <a:prstGeom xmlns:a="http://schemas.openxmlformats.org/drawingml/2006/main" prst="roundRect">
            <a:avLst>
              <a:gd name="adj" fmla="val 2046"/>
            </a:avLst>
          </a:prstGeom>
          <a:solidFill xmlns:a="http://schemas.openxmlformats.org/drawingml/2006/main">
            <a:srgbClr val="FFFFFF"/>
          </a:solidFill>
          <a:ln xmlns:a="http://schemas.openxmlformats.org/drawingml/2006/main" w="19050">
            <a:solidFill>
              <a:srgbClr val="D7E7E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e0121bfcf2d43cf"/>
          <a:stretch xmlns:a="http://schemas.openxmlformats.org/drawingml/2006/main"/>
        </p:blipFill>
        <p:spPr>
          <a:xfrm xmlns:a="http://schemas.openxmlformats.org/drawingml/2006/main">
            <a:off x="5143500" y="2023805"/>
            <a:ext cx="6429375" cy="31056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54CBE8C-8CDF-407E-BD73-75D733E92D27}"/>
              </a:ext>
            </a:extLst>
          </p:cNvPr>
          <p:cNvSpPr>
            <a:spLocks xmlns:a="http://schemas.openxmlformats.org/drawingml/2006/main" noGrp="1"/>
          </p:cNvSpPr>
          <p:nvPr/>
        </p:nvSpPr>
        <p:spPr>
          <a:xfrm xmlns:a="http://schemas.openxmlformats.org/drawingml/2006/main">
            <a:off x="685800" y="5724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C7184"/>
                </a:solidFill>
                <a:latin typeface="Arial"/>
                <a:ea typeface="Arial"/>
                <a:cs typeface="Arial"/>
              </a:defRPr>
            </a:pPr>
            <a:r>
              <a:rPr sz="1575" b="0">
                <a:solidFill>
                  <a:srgbClr val="5C7184"/>
                </a:solidFill>
                <a:latin typeface="Arial"/>
                <a:ea typeface="Arial"/>
                <a:cs typeface="Arial"/>
              </a:rPr>
              <a:t>Demo activity snapshot. These metrics do not prove accuracy on real company content.</a:t>
            </a:r>
          </a:p>
        </p:txBody>
      </p:sp>
    </p:spTree>
    <p:extLst>
      <p:ext uri="{BB962C8B-B14F-4D97-AF65-F5344CB8AC3E}">
        <p14:creationId xmlns:p14="http://schemas.microsoft.com/office/powerpoint/2010/main" val="5981099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7DE0F54-7AD3-424D-BA91-14543BCC9738}"/>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Deployment and production path</a:t>
            </a:r>
          </a:p>
        </p:txBody>
      </p:sp>
      <p:sp>
        <p:nvSpPr>
          <p:cNvPr id="2" name="">
            <a:extLst xmlns:a="http://schemas.openxmlformats.org/drawingml/2006/main">
              <a:ext uri="{FF2B5EF4-FFF2-40B4-BE49-F238E27FC236}">
                <a16:creationId xmlns:a16="http://schemas.microsoft.com/office/drawing/2014/main" id="{8DCA30B7-1055-41D5-9C81-C19D8E620ACC}"/>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0B937C6F-E067-438B-B988-7E9C690CF880}"/>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036CB730-73E2-45BF-9313-3EBB6E728096}"/>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9DCFD314-0CC3-4D85-8A71-54D0DCA2EF67}"/>
              </a:ext>
            </a:extLst>
          </p:cNvPr>
          <p:cNvSpPr>
            <a:spLocks xmlns:a="http://schemas.openxmlformats.org/drawingml/2006/main" noGrp="1"/>
          </p:cNvSpPr>
          <p:nvPr/>
        </p:nvSpPr>
        <p:spPr>
          <a:xfrm xmlns:a="http://schemas.openxmlformats.org/drawingml/2006/main">
            <a:off x="695325" y="1590675"/>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62B54"/>
                </a:solidFill>
                <a:latin typeface="Arial"/>
                <a:ea typeface="Arial"/>
                <a:cs typeface="Arial"/>
              </a:defRPr>
            </a:pPr>
            <a:r>
              <a:rPr sz="2250" b="1">
                <a:solidFill>
                  <a:srgbClr val="062B54"/>
                </a:solidFill>
                <a:latin typeface="Arial"/>
                <a:ea typeface="Arial"/>
                <a:cs typeface="Arial"/>
              </a:rPr>
              <a:t>Current state</a:t>
            </a:r>
          </a:p>
        </p:txBody>
      </p:sp>
      <p:sp>
        <p:nvSpPr>
          <p:cNvPr id="6" name="">
            <a:extLst xmlns:a="http://schemas.openxmlformats.org/drawingml/2006/main">
              <a:ext uri="{FF2B5EF4-FFF2-40B4-BE49-F238E27FC236}">
                <a16:creationId xmlns:a16="http://schemas.microsoft.com/office/drawing/2014/main" id="{DAD00B08-345E-4FAD-93AE-F230DA560656}"/>
              </a:ext>
            </a:extLst>
          </p:cNvPr>
          <p:cNvSpPr>
            <a:spLocks xmlns:a="http://schemas.openxmlformats.org/drawingml/2006/main" noGrp="1"/>
          </p:cNvSpPr>
          <p:nvPr/>
        </p:nvSpPr>
        <p:spPr>
          <a:xfrm xmlns:a="http://schemas.openxmlformats.org/drawingml/2006/main">
            <a:off x="695325" y="2133600"/>
            <a:ext cx="44577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5344D"/>
                </a:solidFill>
                <a:latin typeface="Arial"/>
                <a:ea typeface="Arial"/>
                <a:cs typeface="Arial"/>
              </a:defRPr>
            </a:pPr>
            <a:r>
              <a:rPr sz="2025" b="0">
                <a:solidFill>
                  <a:srgbClr val="15344D"/>
                </a:solidFill>
                <a:latin typeface="Arial"/>
                <a:ea typeface="Arial"/>
                <a:cs typeface="Arial"/>
              </a:rPr>
              <a:t>Local runnable prototype. A Render blueprint is prepared. No public app URL is recorded in the project yet.</a:t>
            </a:r>
          </a:p>
        </p:txBody>
      </p:sp>
      <p:sp>
        <p:nvSpPr>
          <p:cNvPr id="7" name="">
            <a:extLst xmlns:a="http://schemas.openxmlformats.org/drawingml/2006/main">
              <a:ext uri="{FF2B5EF4-FFF2-40B4-BE49-F238E27FC236}">
                <a16:creationId xmlns:a16="http://schemas.microsoft.com/office/drawing/2014/main" id="{8DAE02C1-8C87-4D85-8646-4F42E91B4909}"/>
              </a:ext>
            </a:extLst>
          </p:cNvPr>
          <p:cNvSpPr>
            <a:spLocks xmlns:a="http://schemas.openxmlformats.org/drawingml/2006/main" noGrp="1"/>
          </p:cNvSpPr>
          <p:nvPr/>
        </p:nvSpPr>
        <p:spPr>
          <a:xfrm xmlns:a="http://schemas.openxmlformats.org/drawingml/2006/main">
            <a:off x="5962650" y="1647825"/>
            <a:ext cx="0" cy="3876675"/>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8" name="">
            <a:extLst xmlns:a="http://schemas.openxmlformats.org/drawingml/2006/main">
              <a:ext uri="{FF2B5EF4-FFF2-40B4-BE49-F238E27FC236}">
                <a16:creationId xmlns:a16="http://schemas.microsoft.com/office/drawing/2014/main" id="{957E26FA-699C-4F83-BC87-560196F12DD4}"/>
              </a:ext>
            </a:extLst>
          </p:cNvPr>
          <p:cNvSpPr>
            <a:spLocks xmlns:a="http://schemas.openxmlformats.org/drawingml/2006/main" noGrp="1"/>
          </p:cNvSpPr>
          <p:nvPr/>
        </p:nvSpPr>
        <p:spPr>
          <a:xfrm xmlns:a="http://schemas.openxmlformats.org/drawingml/2006/main">
            <a:off x="6496050" y="15906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062B54"/>
                </a:solidFill>
                <a:latin typeface="Arial"/>
                <a:ea typeface="Arial"/>
                <a:cs typeface="Arial"/>
              </a:defRPr>
            </a:pPr>
            <a:r>
              <a:rPr sz="2250" b="1">
                <a:solidFill>
                  <a:srgbClr val="062B54"/>
                </a:solidFill>
                <a:latin typeface="Arial"/>
                <a:ea typeface="Arial"/>
                <a:cs typeface="Arial"/>
              </a:rPr>
              <a:t>Before real company content</a:t>
            </a:r>
          </a:p>
        </p:txBody>
      </p:sp>
      <p:sp>
        <p:nvSpPr>
          <p:cNvPr id="9" name="">
            <a:extLst xmlns:a="http://schemas.openxmlformats.org/drawingml/2006/main">
              <a:ext uri="{FF2B5EF4-FFF2-40B4-BE49-F238E27FC236}">
                <a16:creationId xmlns:a16="http://schemas.microsoft.com/office/drawing/2014/main" id="{8040238F-255D-42E1-B0EA-BB9AD4C65FE0}"/>
              </a:ext>
            </a:extLst>
          </p:cNvPr>
          <p:cNvSpPr>
            <a:spLocks xmlns:a="http://schemas.openxmlformats.org/drawingml/2006/main" noGrp="1"/>
          </p:cNvSpPr>
          <p:nvPr/>
        </p:nvSpPr>
        <p:spPr>
          <a:xfrm xmlns:a="http://schemas.openxmlformats.org/drawingml/2006/main">
            <a:off x="6496050" y="2133600"/>
            <a:ext cx="49530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5344D"/>
                </a:solidFill>
                <a:latin typeface="Arial"/>
                <a:ea typeface="Arial"/>
                <a:cs typeface="Arial"/>
              </a:defRPr>
            </a:pPr>
            <a:r>
              <a:rPr sz="2025" b="0">
                <a:solidFill>
                  <a:srgbClr val="15344D"/>
                </a:solidFill>
                <a:latin typeface="Arial"/>
                <a:ea typeface="Arial"/>
                <a:cs typeface="Arial"/>
              </a:rPr>
              <a:t>Add enterprise SSO, managed storage and secrets, document scanning, stronger evaluation, privacy review and approved connectors.</a:t>
            </a:r>
          </a:p>
        </p:txBody>
      </p:sp>
      <p:sp>
        <p:nvSpPr>
          <p:cNvPr id="10" name="">
            <a:extLst xmlns:a="http://schemas.openxmlformats.org/drawingml/2006/main">
              <a:ext uri="{FF2B5EF4-FFF2-40B4-BE49-F238E27FC236}">
                <a16:creationId xmlns:a16="http://schemas.microsoft.com/office/drawing/2014/main" id="{CE8A6CBD-DF92-40C6-B2F3-8D7DE2461D11}"/>
              </a:ext>
            </a:extLst>
          </p:cNvPr>
          <p:cNvSpPr>
            <a:spLocks xmlns:a="http://schemas.openxmlformats.org/drawingml/2006/main" noGrp="1"/>
          </p:cNvSpPr>
          <p:nvPr/>
        </p:nvSpPr>
        <p:spPr>
          <a:xfrm xmlns:a="http://schemas.openxmlformats.org/drawingml/2006/main">
            <a:off x="695325" y="4886325"/>
            <a:ext cx="10687050" cy="828675"/>
          </a:xfrm>
          <a:prstGeom xmlns:a="http://schemas.openxmlformats.org/drawingml/2006/main" prst="rect">
            <a:avLst/>
          </a:prstGeom>
          <a:solidFill xmlns:a="http://schemas.openxmlformats.org/drawingml/2006/main">
            <a:srgbClr val="EAF6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FF43018-0E22-4A6E-B437-2A971477CD29}"/>
              </a:ext>
            </a:extLst>
          </p:cNvPr>
          <p:cNvSpPr>
            <a:spLocks xmlns:a="http://schemas.openxmlformats.org/drawingml/2006/main" noGrp="1"/>
          </p:cNvSpPr>
          <p:nvPr/>
        </p:nvSpPr>
        <p:spPr>
          <a:xfrm xmlns:a="http://schemas.openxmlformats.org/drawingml/2006/main">
            <a:off x="895350" y="5019675"/>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087CC1"/>
                </a:solidFill>
                <a:latin typeface="Arial"/>
                <a:ea typeface="Arial"/>
                <a:cs typeface="Arial"/>
              </a:defRPr>
            </a:pPr>
            <a:r>
              <a:rPr sz="1800" b="1">
                <a:solidFill>
                  <a:srgbClr val="087CC1"/>
                </a:solidFill>
                <a:latin typeface="Arial"/>
                <a:ea typeface="Arial"/>
                <a:cs typeface="Arial"/>
              </a:rPr>
              <a:t>Immediate demo fixes: clear prior answers on account switch, label no-answer distinctly, and align source-owner metadata.</a:t>
            </a:r>
          </a:p>
        </p:txBody>
      </p:sp>
    </p:spTree>
    <p:extLst>
      <p:ext uri="{BB962C8B-B14F-4D97-AF65-F5344CB8AC3E}">
        <p14:creationId xmlns:p14="http://schemas.microsoft.com/office/powerpoint/2010/main" val="5763757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301DBCF-3F13-4D52-A6DF-1053574FA343}"/>
              </a:ext>
            </a:extLst>
          </p:cNvPr>
          <p:cNvSpPr>
            <a:spLocks xmlns:a="http://schemas.openxmlformats.org/drawingml/2006/main" noGrp="1"/>
          </p:cNvSpPr>
          <p:nvPr/>
        </p:nvSpPr>
        <p:spPr>
          <a:xfrm xmlns:a="http://schemas.openxmlformats.org/drawingml/2006/main">
            <a:off x="609600" y="400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62B54"/>
                </a:solidFill>
                <a:latin typeface="Arial"/>
                <a:ea typeface="Arial"/>
                <a:cs typeface="Arial"/>
              </a:defRPr>
            </a:pPr>
            <a:r>
              <a:rPr sz="3225" b="1">
                <a:solidFill>
                  <a:srgbClr val="062B54"/>
                </a:solidFill>
                <a:latin typeface="Arial"/>
                <a:ea typeface="Arial"/>
                <a:cs typeface="Arial"/>
              </a:rPr>
              <a:t>Project makers</a:t>
            </a:r>
          </a:p>
        </p:txBody>
      </p:sp>
      <p:sp>
        <p:nvSpPr>
          <p:cNvPr id="2" name="">
            <a:extLst xmlns:a="http://schemas.openxmlformats.org/drawingml/2006/main">
              <a:ext uri="{FF2B5EF4-FFF2-40B4-BE49-F238E27FC236}">
                <a16:creationId xmlns:a16="http://schemas.microsoft.com/office/drawing/2014/main" id="{933991E9-CA2A-48AF-9FE7-BF5A7A0F34AF}"/>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3" name="">
            <a:extLst xmlns:a="http://schemas.openxmlformats.org/drawingml/2006/main">
              <a:ext uri="{FF2B5EF4-FFF2-40B4-BE49-F238E27FC236}">
                <a16:creationId xmlns:a16="http://schemas.microsoft.com/office/drawing/2014/main" id="{227E630F-8DBE-4FD6-9DBA-5F7A545FCF83}"/>
              </a:ext>
            </a:extLst>
          </p:cNvPr>
          <p:cNvSpPr>
            <a:spLocks xmlns:a="http://schemas.openxmlformats.org/drawingml/2006/main" noGrp="1"/>
          </p:cNvSpPr>
          <p:nvPr/>
        </p:nvSpPr>
        <p:spPr>
          <a:xfrm xmlns:a="http://schemas.openxmlformats.org/drawingml/2006/main">
            <a:off x="609600" y="63436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5C7184"/>
                </a:solidFill>
                <a:latin typeface="Arial"/>
                <a:ea typeface="Arial"/>
                <a:cs typeface="Arial"/>
              </a:defRPr>
            </a:pPr>
            <a:r>
              <a:rPr sz="1125" b="0">
                <a:solidFill>
                  <a:srgbClr val="5C7184"/>
                </a:solidFill>
                <a:latin typeface="Arial"/>
                <a:ea typeface="Arial"/>
                <a:cs typeface="Arial"/>
              </a:rPr>
              <a:t>INFOSYS ENTERPRISE GPT  /  CAPSTONE PROTOTYPE</a:t>
            </a:r>
          </a:p>
        </p:txBody>
      </p:sp>
      <p:sp>
        <p:nvSpPr>
          <p:cNvPr id="4" name="">
            <a:extLst xmlns:a="http://schemas.openxmlformats.org/drawingml/2006/main">
              <a:ext uri="{FF2B5EF4-FFF2-40B4-BE49-F238E27FC236}">
                <a16:creationId xmlns:a16="http://schemas.microsoft.com/office/drawing/2014/main" id="{08FF0905-0DE4-4A1D-B4ED-4C3202A071C5}"/>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C7184"/>
                </a:solidFill>
                <a:latin typeface="Arial"/>
                <a:ea typeface="Arial"/>
                <a:cs typeface="Arial"/>
              </a:defRPr>
            </a:pPr>
            <a:r>
              <a:rPr sz="1200" b="1">
                <a:solidFill>
                  <a:srgbClr val="5C7184"/>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3D70BBFE-B66D-4CDF-9810-EA8734B3BEE1}"/>
              </a:ext>
            </a:extLst>
          </p:cNvPr>
          <p:cNvSpPr>
            <a:spLocks xmlns:a="http://schemas.openxmlformats.org/drawingml/2006/main" noGrp="1"/>
          </p:cNvSpPr>
          <p:nvPr/>
        </p:nvSpPr>
        <p:spPr>
          <a:xfrm xmlns:a="http://schemas.openxmlformats.org/drawingml/2006/main">
            <a:off x="695325" y="14668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C7184"/>
                </a:solidFill>
                <a:latin typeface="Arial"/>
                <a:ea typeface="Arial"/>
                <a:cs typeface="Arial"/>
              </a:defRPr>
            </a:pPr>
            <a:r>
              <a:rPr sz="1950" b="0">
                <a:solidFill>
                  <a:srgbClr val="5C7184"/>
                </a:solidFill>
                <a:latin typeface="Arial"/>
                <a:ea typeface="Arial"/>
                <a:cs typeface="Arial"/>
              </a:rPr>
              <a:t>Add names and roles before submission</a:t>
            </a:r>
          </a:p>
        </p:txBody>
      </p:sp>
      <p:sp>
        <p:nvSpPr>
          <p:cNvPr id="6" name="">
            <a:extLst xmlns:a="http://schemas.openxmlformats.org/drawingml/2006/main">
              <a:ext uri="{FF2B5EF4-FFF2-40B4-BE49-F238E27FC236}">
                <a16:creationId xmlns:a16="http://schemas.microsoft.com/office/drawing/2014/main" id="{8D83BC24-93FD-4C6D-AB1C-871501BD0F5B}"/>
              </a:ext>
            </a:extLst>
          </p:cNvPr>
          <p:cNvSpPr>
            <a:spLocks xmlns:a="http://schemas.openxmlformats.org/drawingml/2006/main" noGrp="1"/>
          </p:cNvSpPr>
          <p:nvPr/>
        </p:nvSpPr>
        <p:spPr>
          <a:xfrm xmlns:a="http://schemas.openxmlformats.org/drawingml/2006/main">
            <a:off x="695325" y="2847975"/>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7" name="">
            <a:extLst xmlns:a="http://schemas.openxmlformats.org/drawingml/2006/main">
              <a:ext uri="{FF2B5EF4-FFF2-40B4-BE49-F238E27FC236}">
                <a16:creationId xmlns:a16="http://schemas.microsoft.com/office/drawing/2014/main" id="{D39FEAE5-B9A5-4DE6-B2CB-8A1F5C9CD38A}"/>
              </a:ext>
            </a:extLst>
          </p:cNvPr>
          <p:cNvSpPr>
            <a:spLocks xmlns:a="http://schemas.openxmlformats.org/drawingml/2006/main" noGrp="1"/>
          </p:cNvSpPr>
          <p:nvPr/>
        </p:nvSpPr>
        <p:spPr>
          <a:xfrm xmlns:a="http://schemas.openxmlformats.org/drawingml/2006/main">
            <a:off x="695325" y="2247900"/>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01   Project maker 1</a:t>
            </a:r>
          </a:p>
        </p:txBody>
      </p:sp>
      <p:sp>
        <p:nvSpPr>
          <p:cNvPr id="8" name="">
            <a:extLst xmlns:a="http://schemas.openxmlformats.org/drawingml/2006/main">
              <a:ext uri="{FF2B5EF4-FFF2-40B4-BE49-F238E27FC236}">
                <a16:creationId xmlns:a16="http://schemas.microsoft.com/office/drawing/2014/main" id="{700FA062-0E3E-4896-9563-656154E1BADB}"/>
              </a:ext>
            </a:extLst>
          </p:cNvPr>
          <p:cNvSpPr>
            <a:spLocks xmlns:a="http://schemas.openxmlformats.org/drawingml/2006/main" noGrp="1"/>
          </p:cNvSpPr>
          <p:nvPr/>
        </p:nvSpPr>
        <p:spPr>
          <a:xfrm xmlns:a="http://schemas.openxmlformats.org/drawingml/2006/main">
            <a:off x="695325" y="3657600"/>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9" name="">
            <a:extLst xmlns:a="http://schemas.openxmlformats.org/drawingml/2006/main">
              <a:ext uri="{FF2B5EF4-FFF2-40B4-BE49-F238E27FC236}">
                <a16:creationId xmlns:a16="http://schemas.microsoft.com/office/drawing/2014/main" id="{AFA70EFA-9F93-4C5E-8D0B-C90DFB87D0C7}"/>
              </a:ext>
            </a:extLst>
          </p:cNvPr>
          <p:cNvSpPr>
            <a:spLocks xmlns:a="http://schemas.openxmlformats.org/drawingml/2006/main" noGrp="1"/>
          </p:cNvSpPr>
          <p:nvPr/>
        </p:nvSpPr>
        <p:spPr>
          <a:xfrm xmlns:a="http://schemas.openxmlformats.org/drawingml/2006/main">
            <a:off x="695325" y="30575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02   Project maker 2</a:t>
            </a:r>
          </a:p>
        </p:txBody>
      </p:sp>
      <p:sp>
        <p:nvSpPr>
          <p:cNvPr id="10" name="">
            <a:extLst xmlns:a="http://schemas.openxmlformats.org/drawingml/2006/main">
              <a:ext uri="{FF2B5EF4-FFF2-40B4-BE49-F238E27FC236}">
                <a16:creationId xmlns:a16="http://schemas.microsoft.com/office/drawing/2014/main" id="{61F29634-D3BE-4C1C-A161-0C655D3B34A0}"/>
              </a:ext>
            </a:extLst>
          </p:cNvPr>
          <p:cNvSpPr>
            <a:spLocks xmlns:a="http://schemas.openxmlformats.org/drawingml/2006/main" noGrp="1"/>
          </p:cNvSpPr>
          <p:nvPr/>
        </p:nvSpPr>
        <p:spPr>
          <a:xfrm xmlns:a="http://schemas.openxmlformats.org/drawingml/2006/main">
            <a:off x="695325" y="4467225"/>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11" name="">
            <a:extLst xmlns:a="http://schemas.openxmlformats.org/drawingml/2006/main">
              <a:ext uri="{FF2B5EF4-FFF2-40B4-BE49-F238E27FC236}">
                <a16:creationId xmlns:a16="http://schemas.microsoft.com/office/drawing/2014/main" id="{3AAD2542-2A51-4B1D-9ABB-517CB191639C}"/>
              </a:ext>
            </a:extLst>
          </p:cNvPr>
          <p:cNvSpPr>
            <a:spLocks xmlns:a="http://schemas.openxmlformats.org/drawingml/2006/main" noGrp="1"/>
          </p:cNvSpPr>
          <p:nvPr/>
        </p:nvSpPr>
        <p:spPr>
          <a:xfrm xmlns:a="http://schemas.openxmlformats.org/drawingml/2006/main">
            <a:off x="695325" y="3867150"/>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03   Project maker 3</a:t>
            </a:r>
          </a:p>
        </p:txBody>
      </p:sp>
      <p:sp>
        <p:nvSpPr>
          <p:cNvPr id="12" name="">
            <a:extLst xmlns:a="http://schemas.openxmlformats.org/drawingml/2006/main">
              <a:ext uri="{FF2B5EF4-FFF2-40B4-BE49-F238E27FC236}">
                <a16:creationId xmlns:a16="http://schemas.microsoft.com/office/drawing/2014/main" id="{326521FE-569F-422F-8936-50E4485792DE}"/>
              </a:ext>
            </a:extLst>
          </p:cNvPr>
          <p:cNvSpPr>
            <a:spLocks xmlns:a="http://schemas.openxmlformats.org/drawingml/2006/main" noGrp="1"/>
          </p:cNvSpPr>
          <p:nvPr/>
        </p:nvSpPr>
        <p:spPr>
          <a:xfrm xmlns:a="http://schemas.openxmlformats.org/drawingml/2006/main">
            <a:off x="695325" y="5276850"/>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13" name="">
            <a:extLst xmlns:a="http://schemas.openxmlformats.org/drawingml/2006/main">
              <a:ext uri="{FF2B5EF4-FFF2-40B4-BE49-F238E27FC236}">
                <a16:creationId xmlns:a16="http://schemas.microsoft.com/office/drawing/2014/main" id="{809A3719-9CCC-436D-89EA-4BEBC06142E8}"/>
              </a:ext>
            </a:extLst>
          </p:cNvPr>
          <p:cNvSpPr>
            <a:spLocks xmlns:a="http://schemas.openxmlformats.org/drawingml/2006/main" noGrp="1"/>
          </p:cNvSpPr>
          <p:nvPr/>
        </p:nvSpPr>
        <p:spPr>
          <a:xfrm xmlns:a="http://schemas.openxmlformats.org/drawingml/2006/main">
            <a:off x="695325" y="467677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04   Project maker 4</a:t>
            </a:r>
          </a:p>
        </p:txBody>
      </p:sp>
      <p:sp>
        <p:nvSpPr>
          <p:cNvPr id="14" name="">
            <a:extLst xmlns:a="http://schemas.openxmlformats.org/drawingml/2006/main">
              <a:ext uri="{FF2B5EF4-FFF2-40B4-BE49-F238E27FC236}">
                <a16:creationId xmlns:a16="http://schemas.microsoft.com/office/drawing/2014/main" id="{62825ED2-02E4-4F2A-987B-144B1222DFB0}"/>
              </a:ext>
            </a:extLst>
          </p:cNvPr>
          <p:cNvSpPr>
            <a:spLocks xmlns:a="http://schemas.openxmlformats.org/drawingml/2006/main" noGrp="1"/>
          </p:cNvSpPr>
          <p:nvPr/>
        </p:nvSpPr>
        <p:spPr>
          <a:xfrm xmlns:a="http://schemas.openxmlformats.org/drawingml/2006/main">
            <a:off x="6124575" y="2847975"/>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15" name="">
            <a:extLst xmlns:a="http://schemas.openxmlformats.org/drawingml/2006/main">
              <a:ext uri="{FF2B5EF4-FFF2-40B4-BE49-F238E27FC236}">
                <a16:creationId xmlns:a16="http://schemas.microsoft.com/office/drawing/2014/main" id="{D047196E-CE0E-4CF5-A092-4C0315706C6E}"/>
              </a:ext>
            </a:extLst>
          </p:cNvPr>
          <p:cNvSpPr>
            <a:spLocks xmlns:a="http://schemas.openxmlformats.org/drawingml/2006/main" noGrp="1"/>
          </p:cNvSpPr>
          <p:nvPr/>
        </p:nvSpPr>
        <p:spPr>
          <a:xfrm xmlns:a="http://schemas.openxmlformats.org/drawingml/2006/main">
            <a:off x="6124575" y="2247900"/>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05   Project maker 5</a:t>
            </a:r>
          </a:p>
        </p:txBody>
      </p:sp>
      <p:sp>
        <p:nvSpPr>
          <p:cNvPr id="16" name="">
            <a:extLst xmlns:a="http://schemas.openxmlformats.org/drawingml/2006/main">
              <a:ext uri="{FF2B5EF4-FFF2-40B4-BE49-F238E27FC236}">
                <a16:creationId xmlns:a16="http://schemas.microsoft.com/office/drawing/2014/main" id="{1CB7BFEF-FCB2-40B2-8E22-A814FF8BDAD1}"/>
              </a:ext>
            </a:extLst>
          </p:cNvPr>
          <p:cNvSpPr>
            <a:spLocks xmlns:a="http://schemas.openxmlformats.org/drawingml/2006/main" noGrp="1"/>
          </p:cNvSpPr>
          <p:nvPr/>
        </p:nvSpPr>
        <p:spPr>
          <a:xfrm xmlns:a="http://schemas.openxmlformats.org/drawingml/2006/main">
            <a:off x="6124575" y="3657600"/>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17" name="">
            <a:extLst xmlns:a="http://schemas.openxmlformats.org/drawingml/2006/main">
              <a:ext uri="{FF2B5EF4-FFF2-40B4-BE49-F238E27FC236}">
                <a16:creationId xmlns:a16="http://schemas.microsoft.com/office/drawing/2014/main" id="{9C22ED75-DC4A-4DAF-952B-BF70EF90EFAA}"/>
              </a:ext>
            </a:extLst>
          </p:cNvPr>
          <p:cNvSpPr>
            <a:spLocks xmlns:a="http://schemas.openxmlformats.org/drawingml/2006/main" noGrp="1"/>
          </p:cNvSpPr>
          <p:nvPr/>
        </p:nvSpPr>
        <p:spPr>
          <a:xfrm xmlns:a="http://schemas.openxmlformats.org/drawingml/2006/main">
            <a:off x="6124575" y="30575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06   Project maker 6</a:t>
            </a:r>
          </a:p>
        </p:txBody>
      </p:sp>
      <p:sp>
        <p:nvSpPr>
          <p:cNvPr id="18" name="">
            <a:extLst xmlns:a="http://schemas.openxmlformats.org/drawingml/2006/main">
              <a:ext uri="{FF2B5EF4-FFF2-40B4-BE49-F238E27FC236}">
                <a16:creationId xmlns:a16="http://schemas.microsoft.com/office/drawing/2014/main" id="{E9FF2ADB-E46F-43A8-A3DC-19F59674E3B3}"/>
              </a:ext>
            </a:extLst>
          </p:cNvPr>
          <p:cNvSpPr>
            <a:spLocks xmlns:a="http://schemas.openxmlformats.org/drawingml/2006/main" noGrp="1"/>
          </p:cNvSpPr>
          <p:nvPr/>
        </p:nvSpPr>
        <p:spPr>
          <a:xfrm xmlns:a="http://schemas.openxmlformats.org/drawingml/2006/main">
            <a:off x="6124575" y="4467225"/>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19" name="">
            <a:extLst xmlns:a="http://schemas.openxmlformats.org/drawingml/2006/main">
              <a:ext uri="{FF2B5EF4-FFF2-40B4-BE49-F238E27FC236}">
                <a16:creationId xmlns:a16="http://schemas.microsoft.com/office/drawing/2014/main" id="{4530B737-EF2D-44C3-AD53-9141911E3F68}"/>
              </a:ext>
            </a:extLst>
          </p:cNvPr>
          <p:cNvSpPr>
            <a:spLocks xmlns:a="http://schemas.openxmlformats.org/drawingml/2006/main" noGrp="1"/>
          </p:cNvSpPr>
          <p:nvPr/>
        </p:nvSpPr>
        <p:spPr>
          <a:xfrm xmlns:a="http://schemas.openxmlformats.org/drawingml/2006/main">
            <a:off x="6124575" y="3867150"/>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07   Project maker 7</a:t>
            </a:r>
          </a:p>
        </p:txBody>
      </p:sp>
      <p:sp>
        <p:nvSpPr>
          <p:cNvPr id="20" name="">
            <a:extLst xmlns:a="http://schemas.openxmlformats.org/drawingml/2006/main">
              <a:ext uri="{FF2B5EF4-FFF2-40B4-BE49-F238E27FC236}">
                <a16:creationId xmlns:a16="http://schemas.microsoft.com/office/drawing/2014/main" id="{57CAEE44-9260-408E-B778-9F4395C754B3}"/>
              </a:ext>
            </a:extLst>
          </p:cNvPr>
          <p:cNvSpPr>
            <a:spLocks xmlns:a="http://schemas.openxmlformats.org/drawingml/2006/main" noGrp="1"/>
          </p:cNvSpPr>
          <p:nvPr/>
        </p:nvSpPr>
        <p:spPr>
          <a:xfrm xmlns:a="http://schemas.openxmlformats.org/drawingml/2006/main">
            <a:off x="6124575" y="5276850"/>
            <a:ext cx="4810125" cy="0"/>
          </a:xfrm>
          <a:prstGeom xmlns:a="http://schemas.openxmlformats.org/drawingml/2006/main" prst="line">
            <a:avLst/>
          </a:prstGeom>
          <a:noFill xmlns:a="http://schemas.openxmlformats.org/drawingml/2006/main"/>
          <a:ln xmlns:a="http://schemas.openxmlformats.org/drawingml/2006/main" w="19050">
            <a:solidFill>
              <a:srgbClr val="D7E7EF"/>
            </a:solidFill>
            <a:prstDash val="solid"/>
          </a:ln>
        </p:spPr>
      </p:sp>
      <p:sp>
        <p:nvSpPr>
          <p:cNvPr id="21" name="">
            <a:extLst xmlns:a="http://schemas.openxmlformats.org/drawingml/2006/main">
              <a:ext uri="{FF2B5EF4-FFF2-40B4-BE49-F238E27FC236}">
                <a16:creationId xmlns:a16="http://schemas.microsoft.com/office/drawing/2014/main" id="{1E1D7487-AEFA-4969-9976-9F5979695229}"/>
              </a:ext>
            </a:extLst>
          </p:cNvPr>
          <p:cNvSpPr>
            <a:spLocks xmlns:a="http://schemas.openxmlformats.org/drawingml/2006/main" noGrp="1"/>
          </p:cNvSpPr>
          <p:nvPr/>
        </p:nvSpPr>
        <p:spPr>
          <a:xfrm xmlns:a="http://schemas.openxmlformats.org/drawingml/2006/main">
            <a:off x="6124575" y="467677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62B54"/>
                </a:solidFill>
                <a:latin typeface="Arial"/>
                <a:ea typeface="Arial"/>
                <a:cs typeface="Arial"/>
              </a:defRPr>
            </a:pPr>
            <a:r>
              <a:rPr sz="2025" b="1">
                <a:solidFill>
                  <a:srgbClr val="062B54"/>
                </a:solidFill>
                <a:latin typeface="Arial"/>
                <a:ea typeface="Arial"/>
                <a:cs typeface="Arial"/>
              </a:rPr>
              <a:t>08   Project maker 8</a:t>
            </a:r>
          </a:p>
        </p:txBody>
      </p:sp>
    </p:spTree>
    <p:extLst>
      <p:ext uri="{BB962C8B-B14F-4D97-AF65-F5344CB8AC3E}">
        <p14:creationId xmlns:p14="http://schemas.microsoft.com/office/powerpoint/2010/main" val="171668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2026-09-27T13:58:49.6320000Z</dcterms:created>
  <dcterms:modified xsi:type="dcterms:W3CDTF">2026-09-27T13:58:49.6320000Z</dcterms:modified>
</coreProperties>
</file>