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8148d1148e4da8" /><Relationship Type="http://schemas.openxmlformats.org/officeDocument/2006/relationships/extended-properties" Target="/docProps/app.xml" Id="R19830030bea3432e" /><Relationship Type="http://schemas.openxmlformats.org/officeDocument/2006/relationships/officeDocument" Target="/ppt/presentation.xml" Id="R88d0def6e42f4b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e35685ca4f415c"/>
  </p:sldMasterIdLst>
  <p:notesMasterIdLst>
    <p:notesMasterId xmlns:r="http://schemas.openxmlformats.org/officeDocument/2006/relationships" r:id="R8dffe07a1af44960"/>
  </p:notesMasterIdLst>
  <p:sldIdLst>
    <p:sldId xmlns:r="http://schemas.openxmlformats.org/officeDocument/2006/relationships" id="256" r:id="R52e10c3dadb14d93"/>
    <p:sldId xmlns:r="http://schemas.openxmlformats.org/officeDocument/2006/relationships" id="257" r:id="R7d2cd93d01e74f21"/>
    <p:sldId xmlns:r="http://schemas.openxmlformats.org/officeDocument/2006/relationships" id="258" r:id="Re2443609656d4d28"/>
    <p:sldId xmlns:r="http://schemas.openxmlformats.org/officeDocument/2006/relationships" id="259" r:id="Ra9f6e2f683064a28"/>
    <p:sldId xmlns:r="http://schemas.openxmlformats.org/officeDocument/2006/relationships" id="260" r:id="Ra028123999b44187"/>
    <p:sldId xmlns:r="http://schemas.openxmlformats.org/officeDocument/2006/relationships" id="261" r:id="Rec06bac7f5014bf2"/>
    <p:sldId xmlns:r="http://schemas.openxmlformats.org/officeDocument/2006/relationships" id="262" r:id="Rb13d64d591b64dcd"/>
    <p:sldId xmlns:r="http://schemas.openxmlformats.org/officeDocument/2006/relationships" id="263" r:id="R0b58d2eb8c2a46c2"/>
    <p:sldId xmlns:r="http://schemas.openxmlformats.org/officeDocument/2006/relationships" id="264" r:id="R6279be06d4004734"/>
    <p:sldId xmlns:r="http://schemas.openxmlformats.org/officeDocument/2006/relationships" id="265" r:id="Rb21ad6d349e94746"/>
    <p:sldId xmlns:r="http://schemas.openxmlformats.org/officeDocument/2006/relationships" id="266" r:id="R4521b92b79184bf9"/>
    <p:sldId xmlns:r="http://schemas.openxmlformats.org/officeDocument/2006/relationships" id="267" r:id="R1c56ee2538074828"/>
    <p:sldId xmlns:r="http://schemas.openxmlformats.org/officeDocument/2006/relationships" id="268" r:id="R40eecfcc5651486a"/>
    <p:sldId xmlns:r="http://schemas.openxmlformats.org/officeDocument/2006/relationships" id="269" r:id="Ra41370087a4f49e9"/>
    <p:sldId xmlns:r="http://schemas.openxmlformats.org/officeDocument/2006/relationships" id="270" r:id="R9e5b007109a74d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1b06a77af7488f" /><Relationship Type="http://schemas.openxmlformats.org/officeDocument/2006/relationships/slideMaster" Target="/ppt/slideMasters/slideMaster1.xml" Id="Rd4e35685ca4f415c" /><Relationship Type="http://schemas.openxmlformats.org/officeDocument/2006/relationships/notesMaster" Target="/ppt/notesMasters/notesMaster1.xml" Id="R8dffe07a1af44960" /><Relationship Type="http://schemas.openxmlformats.org/officeDocument/2006/relationships/presProps" Target="/ppt/presProps.xml" Id="R09461d633d1e4969" /><Relationship Type="http://schemas.openxmlformats.org/officeDocument/2006/relationships/tableStyles" Target="/ppt/tableStyles.xml" Id="Rbf5dd4d0fb1f470e" /><Relationship Type="http://schemas.openxmlformats.org/officeDocument/2006/relationships/slide" Target="/ppt/slides/slide1.xml" Id="R52e10c3dadb14d93" /><Relationship Type="http://schemas.openxmlformats.org/officeDocument/2006/relationships/slide" Target="/ppt/slides/slide2.xml" Id="R7d2cd93d01e74f21" /><Relationship Type="http://schemas.openxmlformats.org/officeDocument/2006/relationships/slide" Target="/ppt/slides/slide3.xml" Id="Re2443609656d4d28" /><Relationship Type="http://schemas.openxmlformats.org/officeDocument/2006/relationships/slide" Target="/ppt/slides/slide4.xml" Id="Ra9f6e2f683064a28" /><Relationship Type="http://schemas.openxmlformats.org/officeDocument/2006/relationships/slide" Target="/ppt/slides/slide5.xml" Id="Ra028123999b44187" /><Relationship Type="http://schemas.openxmlformats.org/officeDocument/2006/relationships/slide" Target="/ppt/slides/slide6.xml" Id="Rec06bac7f5014bf2" /><Relationship Type="http://schemas.openxmlformats.org/officeDocument/2006/relationships/slide" Target="/ppt/slides/slide7.xml" Id="Rb13d64d591b64dcd" /><Relationship Type="http://schemas.openxmlformats.org/officeDocument/2006/relationships/slide" Target="/ppt/slides/slide8.xml" Id="R0b58d2eb8c2a46c2" /><Relationship Type="http://schemas.openxmlformats.org/officeDocument/2006/relationships/slide" Target="/ppt/slides/slide9.xml" Id="R6279be06d4004734" /><Relationship Type="http://schemas.openxmlformats.org/officeDocument/2006/relationships/slide" Target="/ppt/slides/slide10.xml" Id="Rb21ad6d349e94746" /><Relationship Type="http://schemas.openxmlformats.org/officeDocument/2006/relationships/slide" Target="/ppt/slides/slide11.xml" Id="R4521b92b79184bf9" /><Relationship Type="http://schemas.openxmlformats.org/officeDocument/2006/relationships/slide" Target="/ppt/slides/slide12.xml" Id="R1c56ee2538074828" /><Relationship Type="http://schemas.openxmlformats.org/officeDocument/2006/relationships/slide" Target="/ppt/slides/slide13.xml" Id="R40eecfcc5651486a" /><Relationship Type="http://schemas.openxmlformats.org/officeDocument/2006/relationships/slide" Target="/ppt/slides/slide14.xml" Id="Ra41370087a4f49e9" /><Relationship Type="http://schemas.openxmlformats.org/officeDocument/2006/relationships/slide" Target="/ppt/slides/slide15.xml" Id="R9e5b007109a74d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513072dd047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962395af0e4df9" /><Relationship Type="http://schemas.openxmlformats.org/officeDocument/2006/relationships/notesMaster" Target="/ppt/notesMasters/notesMaster1.xml" Id="R64099e5a9a26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310dc8c7b4fbb" /><Relationship Type="http://schemas.openxmlformats.org/officeDocument/2006/relationships/notesMaster" Target="/ppt/notesMasters/notesMaster1.xml" Id="R6d68b492c4e8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c74c500b4944b4" /><Relationship Type="http://schemas.openxmlformats.org/officeDocument/2006/relationships/notesMaster" Target="/ppt/notesMasters/notesMaster1.xml" Id="R6e22b3ab75f7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4ba1b00b244a89" /><Relationship Type="http://schemas.openxmlformats.org/officeDocument/2006/relationships/notesMaster" Target="/ppt/notesMasters/notesMaster1.xml" Id="R78eb89003382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71e77fd8d465d" /><Relationship Type="http://schemas.openxmlformats.org/officeDocument/2006/relationships/notesMaster" Target="/ppt/notesMasters/notesMaster1.xml" Id="Rc5067948b2e848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1fe7e75f1a4273" /><Relationship Type="http://schemas.openxmlformats.org/officeDocument/2006/relationships/notesMaster" Target="/ppt/notesMasters/notesMaster1.xml" Id="Re59029a8ff03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9620df5d924e7a" /><Relationship Type="http://schemas.openxmlformats.org/officeDocument/2006/relationships/notesMaster" Target="/ppt/notesMasters/notesMaster1.xml" Id="Rf30a865985034f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7543531cf343f4" /><Relationship Type="http://schemas.openxmlformats.org/officeDocument/2006/relationships/notesMaster" Target="/ppt/notesMasters/notesMaster1.xml" Id="R153336785a334c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d84f1a03224ed2" /><Relationship Type="http://schemas.openxmlformats.org/officeDocument/2006/relationships/notesMaster" Target="/ppt/notesMasters/notesMaster1.xml" Id="R5f985f604b6f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267c1697e430d" /><Relationship Type="http://schemas.openxmlformats.org/officeDocument/2006/relationships/notesMaster" Target="/ppt/notesMasters/notesMaster1.xml" Id="R131fe7c765254d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7bd8d793a24648" /><Relationship Type="http://schemas.openxmlformats.org/officeDocument/2006/relationships/notesMaster" Target="/ppt/notesMasters/notesMaster1.xml" Id="R17b7f95a044f42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a0c47655184fad" /><Relationship Type="http://schemas.openxmlformats.org/officeDocument/2006/relationships/notesMaster" Target="/ppt/notesMasters/notesMaster1.xml" Id="R8494e7e64c3641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ed360d19f043cc" /><Relationship Type="http://schemas.openxmlformats.org/officeDocument/2006/relationships/notesMaster" Target="/ppt/notesMasters/notesMaster1.xml" Id="Ra5e907e3c64649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995fa02a204d72" /><Relationship Type="http://schemas.openxmlformats.org/officeDocument/2006/relationships/notesMaster" Target="/ppt/notesMasters/notesMaster1.xml" Id="R1537759a1efa43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f53e4bada04cf3" /><Relationship Type="http://schemas.openxmlformats.org/officeDocument/2006/relationships/notesMaster" Target="/ppt/notesMasters/notesMaster1.xml" Id="Rd3806d449f7b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cover illustration generated for this deck; it is not a product screenshot. Source for project description: README.md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README.md. Included documents are fictional project examples, not real Infosys policies or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static/index.html and docs/demo_script.md. The current seeded accounts are demo identities.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app.py answer_query and mcp_search; knowledge.py search. Diagram simplifies the return path. MCP is a read-only local stdio JSON-RPC server, not a live external HR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knowledge.py create_document, extract_document, split_sections and search. DOCX extraction uses XML; PDF parsing uses pypdf. Upload limit is 5 MB. Lexical vectors are hashed token features, not model embeddings.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app.py answer_query; knowledge.py classify_query, search, gemini_answer and extractive_answer. Threshold is a retrieval score and is not a calibrated probability of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docs/security_notes.md, app.py mcp_search and answer_query, knowledge.py can_access/search. These are prototype controls, not a production security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source files. PDF uploads need pypdf. Hashed lexical vectors are local token features rather than semantic model embeddings.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lines in classify_query, route selection and mcp_search. The excerpt combines exact lines from the same file with a comment for readability.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static/index.html and docs/demo_script.md. Screenshot placeholder is intentional because no public deployed app image or attached capture is available. Replace with a real app capture after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static/index.html and docs/demo_script.md. Screenshot placeholder is intentional because no public deployed app image or attached capture is available. Replace with a real app capture after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data/sample_* documents; docs/demo_script.md. These are illustrative use cases, not measured enterprise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tests/, docs/evaluation_queries.csv, knowledge.py analytics, README.md. Earlier verification in this workspace passed seven unit tests and six evaluation questions; rerun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docs/deployment.md and docs/security_notes.md. The repo contains render.yaml but public deployment has not been completed or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each placeholder with the actual project maker name and, if desired, responsibility. No contributor names were available in the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b29461ded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c41a0844e24a6b" /><Relationship Type="http://schemas.openxmlformats.org/officeDocument/2006/relationships/slideLayout" Target="/ppt/slideLayouts/slideLayout1.xml" Id="R7bdd633c970345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dd633c970345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b5510e3254e7b" /><Relationship Type="http://schemas.openxmlformats.org/officeDocument/2006/relationships/image" Target="/ppt/media/image.png" Id="R4c04ed9f1ff14587" /><Relationship Type="http://schemas.openxmlformats.org/officeDocument/2006/relationships/notesSlide" Target="/ppt/notesSlides/notesSlide1.xml" Id="R647fc92ec4a549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a723c905242a4" /><Relationship Type="http://schemas.openxmlformats.org/officeDocument/2006/relationships/notesSlide" Target="/ppt/notesSlides/notesSlide2.xml" Id="Rb87077f5723b4f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adb0bc2ee4dc3" /><Relationship Type="http://schemas.openxmlformats.org/officeDocument/2006/relationships/notesSlide" Target="/ppt/notesSlides/notesSlide3.xml" Id="R9c95d1cd1ee4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e2b3052104201" /><Relationship Type="http://schemas.openxmlformats.org/officeDocument/2006/relationships/notesSlide" Target="/ppt/notesSlides/notesSlide4.xml" Id="Rd1f462974f8c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ca7af80fc4398" /><Relationship Type="http://schemas.openxmlformats.org/officeDocument/2006/relationships/notesSlide" Target="/ppt/notesSlides/notesSlide5.xml" Id="Rf508b64616d54f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8fcca90e44279" /><Relationship Type="http://schemas.openxmlformats.org/officeDocument/2006/relationships/notesSlide" Target="/ppt/notesSlides/notesSlide6.xml" Id="R012f69eb664647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d64e73bac4981" /><Relationship Type="http://schemas.openxmlformats.org/officeDocument/2006/relationships/notesSlide" Target="/ppt/notesSlides/notesSlide7.xml" Id="Rf7950db438be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260bd7b684e75" /><Relationship Type="http://schemas.openxmlformats.org/officeDocument/2006/relationships/notesSlide" Target="/ppt/notesSlides/notesSlide8.xml" Id="Rbc7fed2e29f14a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d73539ef74ae9" /><Relationship Type="http://schemas.openxmlformats.org/officeDocument/2006/relationships/notesSlide" Target="/ppt/notesSlides/notesSlide9.xml" Id="R5ffe96554aa04f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1f3c63d194966" /><Relationship Type="http://schemas.openxmlformats.org/officeDocument/2006/relationships/notesSlide" Target="/ppt/notesSlides/notesSlide10.xml" Id="Rbd293feae2ad43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e33d00a3f432d" /><Relationship Type="http://schemas.openxmlformats.org/officeDocument/2006/relationships/notesSlide" Target="/ppt/notesSlides/notesSlide11.xml" Id="R0ad1c943a36f4b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95ab73664480c" /><Relationship Type="http://schemas.openxmlformats.org/officeDocument/2006/relationships/notesSlide" Target="/ppt/notesSlides/notesSlide12.xml" Id="R5ebfda768e8b4c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bb3b20dfa4487" /><Relationship Type="http://schemas.openxmlformats.org/officeDocument/2006/relationships/notesSlide" Target="/ppt/notesSlides/notesSlide13.xml" Id="Rf0a964b62a534d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03ade3c8a4a21" /><Relationship Type="http://schemas.openxmlformats.org/officeDocument/2006/relationships/notesSlide" Target="/ppt/notesSlides/notesSlide14.xml" Id="Rc9867c21f7e14b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5fac816f14105" /><Relationship Type="http://schemas.openxmlformats.org/officeDocument/2006/relationships/notesSlide" Target="/ppt/notesSlides/notesSlide15.xml" Id="R12339bea87e94e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B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4ed9f1ff145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45D80-D14D-4963-A912-EF83B8E0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615B1-D9CE-4FFF-8DAA-1338DB64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638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E1674-99F6-4BD0-A7B5-BD720D25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C7EBF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C7EBFB"/>
                </a:solidFill>
                <a:latin typeface="Arial"/>
                <a:ea typeface="Arial"/>
                <a:cs typeface="Arial"/>
              </a:rPr>
              <a:t>AI knowledge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31807-6B2C-423E-A378-9517B9AC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architecture, product workflow and enterprise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7F1BE-A353-43F6-9032-CCD6078E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DA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DAEC"/>
                </a:solidFill>
                <a:latin typeface="Arial"/>
                <a:ea typeface="Arial"/>
                <a:cs typeface="Arial"/>
              </a:rPr>
              <a:t>Capstone presentation  •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86481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94FDF-63ED-4CA2-8034-81960ED3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1B0D9-BDA3-4653-9286-6A90AF36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1D6D2-7925-4C7D-8661-61D19C0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C3A2F-DA19-4E23-9A03-4385B236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75E20-F973-4ABE-960F-56F43F1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58AC8-63B3-43AA-B577-D526516D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810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Employees search across policies, SOPs and runbooks. Answers can be slow to find, hard to verify, or outside a person’s access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A2D63-0AEF-41DE-BB49-6068407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657350"/>
            <a:ext cx="0" cy="401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EA24B-D290-455F-B6B0-0746D15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The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44D66-39EF-49A9-8872-D1558B3C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Give employees a direct answer from approved documents, show the evidence, and enforce access before the answer is assembled.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33BAE-8776-4E84-BAB3-D75F3B7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7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64F3B-107F-406F-BD91-44DAD104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387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CC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CC1"/>
                </a:solidFill>
                <a:latin typeface="Arial"/>
                <a:ea typeface="Arial"/>
                <a:cs typeface="Arial"/>
              </a:rPr>
              <a:t>Capstone scope: a working governed retrieval prototype with fictional sample data</a:t>
            </a:r>
          </a:p>
        </p:txBody>
      </p:sp>
    </p:spTree>
    <p:extLst>
      <p:ext uri="{BB962C8B-B14F-4D97-AF65-F5344CB8AC3E}">
        <p14:creationId xmlns:p14="http://schemas.microsoft.com/office/powerpoint/2010/main" val="1278819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843DF-13EB-42CC-861E-4008B023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Who uses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66E1C-4271-4192-8646-822AE523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8D39B-21FB-4173-A54F-961E8A4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B2979-297F-4D00-B6AD-5695282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85CB9-3E9F-43C8-804D-29A1751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A489D-472B-42A9-B5D3-279C4B09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07C9A-3E21-45BB-A594-B5701C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Asks a natural language question, reads a cited answer, and opens the source passage.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3985D-E026-42FD-89AE-974B8280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D4456-A5B8-4887-BB01-84AC303A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Knowledge owner or administrator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F2D86-82AD-47FE-83B5-95B6257D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04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Uploads an approved document with owner, department, classification and 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3DFA8-BC5D-40AA-BEFA-108D7DD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38926-8AC0-4DDF-8424-0885070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Operations 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5E287-5A1B-4A31-8094-D729D11E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Checks query routes, connector events, no-answer rate, citation coverage and feedback.</a:t>
            </a:r>
          </a:p>
        </p:txBody>
      </p:sp>
    </p:spTree>
    <p:extLst>
      <p:ext uri="{BB962C8B-B14F-4D97-AF65-F5344CB8AC3E}">
        <p14:creationId xmlns:p14="http://schemas.microsoft.com/office/powerpoint/2010/main" val="257449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C0870-6399-44CA-955E-C1C3837C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How the parts connect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7D244-6BE5-41EF-9E1A-1D9EC00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1DCC1-FCA0-4842-8EBC-67C58295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64765-2C95-4B97-9ECD-4113C32B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099C2-D8BF-4999-A25F-50BE925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581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13413-A1E4-4855-82FE-7CF5F16C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86075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Browser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E3507-DE29-4B24-AEC0-A75986EA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19050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3C99B-730A-41B5-B3B1-15B4FDBD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724150"/>
            <a:ext cx="1695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Python HTTP API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login + query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EA52D-0D25-4DC7-854F-48A880CA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1638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F871A-FB4A-428E-B942-5B789334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8765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Route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EDCFB-1D6A-4ACE-8AB1-048730C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76400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F4FB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763D2-1BD8-4CFB-A7FC-F8944B38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MCP tool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HR knowledge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1F314-10BC-4F68-87E9-4789F9A9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7667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F4FB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AEF71-61C7-486F-9A38-18A7DCBE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52875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Local search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other queries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FAD57-C6A2-4C86-8AF4-93F5BDD1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57475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42FFA-D1B0-4679-9C16-E8D789B1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733675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documents + index + audit</a:t>
            </a:r>
          </a:p>
        </p:txBody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133600" y="3176588"/>
            <a:ext cx="4953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533900" y="3171825"/>
            <a:ext cx="4953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667500" y="2114550"/>
            <a:ext cx="523875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667500" y="3171825"/>
            <a:ext cx="52387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039225" y="2114550"/>
            <a:ext cx="581025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9039225" y="3190875"/>
            <a:ext cx="58102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7A651-B406-4731-A995-CC26828E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238750"/>
            <a:ext cx="1042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44D"/>
                </a:solidFill>
                <a:latin typeface="Arial"/>
                <a:ea typeface="Arial"/>
                <a:cs typeface="Arial"/>
              </a:rPr>
              <a:t>After retrieval: permission check, evidence threshold, cited answer and logging</a:t>
            </a:r>
          </a:p>
        </p:txBody>
      </p:sp>
    </p:spTree>
    <p:extLst>
      <p:ext uri="{BB962C8B-B14F-4D97-AF65-F5344CB8AC3E}">
        <p14:creationId xmlns:p14="http://schemas.microsoft.com/office/powerpoint/2010/main" val="1029895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F33A2-83F1-45B9-A432-B08356C8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Document ingestion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C5E90-B0BD-4A0F-9246-9AD6570F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0E1C7-F1FD-4767-8270-DE2134E2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1522C-70DA-4430-A6BD-AED0C8E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30660-F14D-4577-A1CF-CB840C9C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9240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623D2-7E88-4947-88B7-E1C1FB78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38400"/>
            <a:ext cx="171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Approved file</a:t>
            </a:r>
          </a:p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TXT, MD, DOCX,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438AA-BFDB-48EF-9E88-9D24908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19240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B8F18-798F-40DF-9B2F-9EE30B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38400"/>
            <a:ext cx="171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size, type, duplicate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3048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29F4E-2594-4731-A8C9-10F884A0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9240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35DFD-4B50-4B17-BD80-AE6E5E46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438400"/>
            <a:ext cx="171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Extract text</a:t>
            </a:r>
          </a:p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sections and metadata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19650" y="3048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EB89E-E221-42AB-94DB-3FFCD8B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19240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3D373-664D-45D4-B96C-E88919BB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38400"/>
            <a:ext cx="171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Create chunks</a:t>
            </a:r>
          </a:p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overlapping passages</a:t>
            </a:r>
          </a:p>
        </p:txBody>
      </p: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43750" y="3048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B38B1-9DE0-425B-80B6-C24BC9F7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19240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77135-5C2D-4C2E-A7E8-BC526C96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438400"/>
            <a:ext cx="171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Index</a:t>
            </a:r>
          </a:p>
          <a:p xmlns:a="http://schemas.openxmlformats.org/drawingml/2006/main">
            <a:pPr algn="ctr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FTS5 + lexical vectors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467850" y="3048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35FFA-9D94-4278-AE68-9D2C2279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44D"/>
                </a:solidFill>
                <a:latin typeface="Arial"/>
                <a:ea typeface="Arial"/>
                <a:cs typeface="Arial"/>
              </a:rPr>
              <a:t>Each chunk keeps its document, section, owner, department, classification and effective dates.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F4E34-C9A3-428C-8BEC-A5B776D2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Why it matters: retrieval can point to a specific passage and reject content that is stale or out of scope.</a:t>
            </a:r>
          </a:p>
        </p:txBody>
      </p:sp>
    </p:spTree>
    <p:extLst>
      <p:ext uri="{BB962C8B-B14F-4D97-AF65-F5344CB8AC3E}">
        <p14:creationId xmlns:p14="http://schemas.microsoft.com/office/powerpoint/2010/main" val="2008170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CC409-3623-45DD-AEE3-7E4F0DA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Question-to-answer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2BCEB-AA1F-4951-BE60-71DE3510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D6B9F-3A01-4E9F-AA9A-72FF538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2B59F-3D7C-401C-8BC7-9007B490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F706A-C865-4C64-8DE6-81D338D6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090CB-1E62-483B-8659-DF8FE639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859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Employee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6A704-831D-4556-9BF6-3DB227D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6F9D7-F440-4517-A93E-9A215514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859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Classify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department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6527C-7F97-4C44-91C4-4A7A5918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63BBC-EFE4-4044-A7FF-9E134F8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859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Search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MCP or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D2577-AB84-43A4-AD76-5AA8D79A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3EB8A-F965-4C24-9C8A-8FB6977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859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Filter</a:t>
            </a:r>
          </a:p>
          <a:p xmlns:a="http://schemas.openxmlformats.org/drawingml/2006/main">
            <a:pPr algn="ctr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access + expiry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52700" y="22479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24450" y="22479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96200" y="22479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725C1-C0DC-46D2-880F-286EB442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38575"/>
            <a:ext cx="2457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9050">
            <a:solidFill>
              <a:srgbClr val="A965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1C784-6B4B-4144-86BB-62874BC1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14775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44D"/>
                </a:solidFill>
                <a:latin typeface="Arial"/>
                <a:ea typeface="Arial"/>
                <a:cs typeface="Arial"/>
              </a:rPr>
              <a:t>Evidence sufficient?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EC2CA-C589-4884-95FA-A2B209EE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05275"/>
            <a:ext cx="30384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F6F1"/>
          </a:solidFill>
          <a:ln xmlns:a="http://schemas.openxmlformats.org/drawingml/2006/main" w="19050">
            <a:solidFill>
              <a:srgbClr val="147C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93C36-21CC-4E55-8C65-3E137929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81475"/>
            <a:ext cx="2828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44D"/>
                </a:solidFill>
                <a:latin typeface="Arial"/>
                <a:ea typeface="Arial"/>
                <a:cs typeface="Arial"/>
              </a:rPr>
              <a:t>Cited answer</a:t>
            </a:r>
          </a:p>
          <a:p xmlns:a="http://schemas.openxmlformats.org/drawingml/2006/main">
            <a:pPr algn="ctr">
              <a:defRPr sz="1725" b="1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44D"/>
                </a:solidFill>
                <a:latin typeface="Arial"/>
                <a:ea typeface="Arial"/>
                <a:cs typeface="Arial"/>
              </a:rPr>
              <a:t>+ source 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6BA11-F7D6-4B7B-9C8C-CD3BE3E7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05275"/>
            <a:ext cx="2819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A9651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11510-2054-4845-B597-C3068E3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2609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44D"/>
                </a:solidFill>
                <a:latin typeface="Arial"/>
                <a:ea typeface="Arial"/>
                <a:cs typeface="Arial"/>
              </a:rPr>
              <a:t>Safe no-answer</a:t>
            </a:r>
          </a:p>
          <a:p xmlns:a="http://schemas.openxmlformats.org/drawingml/2006/main">
            <a:pPr algn="ctr">
              <a:defRPr sz="1725" b="1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44D"/>
                </a:solidFill>
                <a:latin typeface="Arial"/>
                <a:ea typeface="Arial"/>
                <a:cs typeface="Arial"/>
              </a:rPr>
              <a:t>+ knowledge gap</a:t>
            </a:r>
          </a:p>
        </p:txBody>
      </p:sp>
      <p:cxnSp>
        <p:nvCxnSpPr>
          <p:cNvPr id="47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5505450" y="2686050"/>
            <a:ext cx="4143375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734175" y="4276725"/>
            <a:ext cx="87630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6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3648075" y="4276725"/>
            <a:ext cx="62865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CC1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46A1A-C1CB-4609-A4F4-D2B2D66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Optional Gemini writes from permitted passages. Otherwise the app extracts cited sentences.</a:t>
            </a:r>
          </a:p>
        </p:txBody>
      </p:sp>
    </p:spTree>
    <p:extLst>
      <p:ext uri="{BB962C8B-B14F-4D97-AF65-F5344CB8AC3E}">
        <p14:creationId xmlns:p14="http://schemas.microsoft.com/office/powerpoint/2010/main" val="1249425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643ED-E1A8-4A9B-81F4-8A99C081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Permission and evidence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D4E55-6608-4C29-BD1C-AF7AC0A1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A7CCE-4810-4AAA-BF0B-E5629F46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58D2F-75A0-4C63-B445-1380E9E4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B2FBB-6E1A-449F-9D49-FC32411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9F5EB-68AB-40EE-A85A-4F8BEFC9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525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Check the user before retrieval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E4E61-0257-4948-9CAA-610F6F8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9547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Internal is shared with authenticated users. Department material follows the user’s department. Restricted is administrator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EDFB5-9378-4A76-811C-4339289D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20725-C56C-42C0-91F7-FA833561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Check again after the connector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718DF-6F54-45DA-BF21-25B24FFB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The MCP tool enforces scope; the HTTP API filters returned passages again before answering.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B53A0-DDF4-4B0D-9BBE-5BBE391E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ADD44-7E53-467D-81D5-DC6745C1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Show the proof or decline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9CF16-6EB1-429D-87E6-AEEBD03E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Only active, unexpired sources can support an answer. Weak evidence triggers an explicit no-answer response.</a:t>
            </a:r>
          </a:p>
        </p:txBody>
      </p:sp>
    </p:spTree>
    <p:extLst>
      <p:ext uri="{BB962C8B-B14F-4D97-AF65-F5344CB8AC3E}">
        <p14:creationId xmlns:p14="http://schemas.microsoft.com/office/powerpoint/2010/main" val="644134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2E02B-7D5F-4D37-86D1-96B03AA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Technology by component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A4A21-D32E-4278-993B-0897E99D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49985-6348-4452-92F0-60A05E72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1122A-2AB8-4ADD-B118-03A83D31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E45C9-D809-4D3C-8BDF-5D2B10D0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71625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C1"/>
                </a:solidFill>
                <a:latin typeface="Arial"/>
                <a:ea typeface="Arial"/>
                <a:cs typeface="Arial"/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19C39-A140-4E0D-8DC3-6293C106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571625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C1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1A70E-A11D-44A4-81F2-D1E614BF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CC1"/>
                </a:solidFill>
                <a:latin typeface="Arial"/>
                <a:ea typeface="Arial"/>
                <a:cs typeface="Arial"/>
              </a:rPr>
              <a:t>ROLE IN THE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066A6-413F-48CB-BFA7-77BF2D79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62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1C966-E0D5-4E95-8C87-2D8CF87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E8FF3-6090-444E-B31A-C310574F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009775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HTML, CSS,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73AE7-6F4A-4147-9344-C100A0D6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097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Question form, citations, source preview, admin screens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62A9E-EC27-4838-AD37-7D33EF97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146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F3480-0F34-4CEF-AE7B-EF62A910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5AB97-DFBE-479B-B477-5004B0A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622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Python standard library HTTP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C9251-C14A-44A5-B908-A92B540E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622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Authentication, API endpoints, routing, answer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65940-7D02-4B39-8672-6C8788E4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67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A8E18-D9EC-4288-B5ED-8C61FE3D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147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Knowledge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263AB-9425-4BE2-8890-AAA4827E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14725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SQLite with FTS5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ADA6D-FAC0-4EA0-BE8B-A291287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147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Documents, passages, search terms, queries and audit records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D7C56-E029-42EA-93AA-0E6B40E1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95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5D5AC-3B9A-419C-9ACF-B0DD4DB8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672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Connector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7C1EB-ECEC-4B83-8567-DDA7DD4D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672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MCP over stdio JSON-RPC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38B98-36C0-4E2B-91A8-8A49230C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672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Read-only HR search demonstration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792E1-A73A-4B7C-8EF9-03F3D81B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328DE8-4309-4331-AC1F-86A1FAF9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96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Answering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D15152-8B90-43A9-AB74-64B3986B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19675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Extractive synthesis; optional 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9DD13-7B3C-4F4C-A2C4-0878EF9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96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Cited response from retrieved permitted passages</a:t>
            </a:r>
          </a:p>
        </p:txBody>
      </p:sp>
    </p:spTree>
    <p:extLst>
      <p:ext uri="{BB962C8B-B14F-4D97-AF65-F5344CB8AC3E}">
        <p14:creationId xmlns:p14="http://schemas.microsoft.com/office/powerpoint/2010/main" val="8396865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2B958-EE44-419F-AB2B-EFA43E31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Code spotlight: route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A7901-0429-4C74-BBAC-2329BC4A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DFDE3-1F6A-48A1-B2CD-CD12621A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E2C28-B071-49F6-A9F0-12E72F78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65A10-9A5F-4124-B05F-F01B3F1C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In app.py, HR questions use the MCP route. Other questions use the local index.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26AC9-72F6-4D9E-8044-B01D978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08394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051C38"/>
          </a:solidFill>
          <a:ln xmlns:a="http://schemas.openxmlformats.org/drawingml/2006/main" w="0">
            <a:solidFill>
              <a:srgbClr val="051C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F2193-6566-4EB3-93CA-CCE83FA4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03060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7F5F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7F5FD"/>
                </a:solidFill>
                <a:latin typeface="Consolas"/>
                <a:ea typeface="Consolas"/>
                <a:cs typeface="Consolas"/>
              </a:rPr>
              <a:t>department = k.classify_query(question, requested_department)</a:t>
            </a:r>
          </a:p>
          <a:p xmlns:a="http://schemas.openxmlformats.org/drawingml/2006/main">
            <a:pPr algn="l">
              <a:defRPr sz="1575" b="0">
                <a:solidFill>
                  <a:srgbClr val="E7F5F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7F5FD"/>
                </a:solidFill>
                <a:latin typeface="Consolas"/>
                <a:ea typeface="Consolas"/>
                <a:cs typeface="Consolas"/>
              </a:rPr>
              <a:t>route = "MCP curated knowledge" if department == "HR" else "Local hybrid index"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7F5F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7F5FD"/>
                </a:solidFill>
                <a:latin typeface="Consolas"/>
                <a:ea typeface="Consolas"/>
                <a:cs typeface="Consolas"/>
              </a:rPr>
              <a:t># After the MCP call:</a:t>
            </a:r>
          </a:p>
          <a:p xmlns:a="http://schemas.openxmlformats.org/drawingml/2006/main">
            <a:pPr algn="l">
              <a:defRPr sz="1575" b="0">
                <a:solidFill>
                  <a:srgbClr val="E7F5F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7F5FD"/>
                </a:solidFill>
                <a:latin typeface="Consolas"/>
                <a:ea typeface="Consolas"/>
                <a:cs typeface="Consolas"/>
              </a:rPr>
              <a:t>matches = [s for s in matches if k.can_access(user, s)]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5FE84-6C8C-47A8-BDB6-81D0D202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062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The second access check protects the application even after data crosses the connector boundary.</a:t>
            </a:r>
          </a:p>
        </p:txBody>
      </p:sp>
    </p:spTree>
    <p:extLst>
      <p:ext uri="{BB962C8B-B14F-4D97-AF65-F5344CB8AC3E}">
        <p14:creationId xmlns:p14="http://schemas.microsoft.com/office/powerpoint/2010/main" val="1212410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14B5B-54EE-4E2B-9712-97A940F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How to use: prepare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D3A75-7140-42B2-AA53-05DF39F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184F9-EE12-4D2F-A5C3-C3CD80F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61F34-A94C-4321-91DF-C7423425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AC301-7C24-4630-B015-C563470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09725"/>
            <a:ext cx="5572125" cy="3981450"/>
          </a:xfrm>
          <a:prstGeom xmlns:a="http://schemas.openxmlformats.org/drawingml/2006/main" prst="roundRect">
            <a:avLst>
              <a:gd name="adj" fmla="val 2392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FD64B-FA22-40F0-9680-6566F73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24531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CC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C1"/>
                </a:solidFill>
                <a:latin typeface="Arial"/>
                <a:ea typeface="Arial"/>
                <a:cs typeface="Arial"/>
              </a:rPr>
              <a:t>PRODUCT SCREENSHOT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5570-83B2-4907-BE46-A1102722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24581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Sign-in and Knowledge 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DD938-FD9E-45BC-8459-195A29AE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5777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Insert a capture from the deployed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85095-4CA0-4515-AAB8-6A6713C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59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1  Sign in as administrator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5C363-4FF3-4D13-9E3B-CE0583E5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2  Open Knowledge 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470F2-1AE1-4694-BDB1-E52DEDA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0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3  Add an approved file and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E9B75-DE98-432D-A356-19620220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577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4  Validate and index</a:t>
            </a:r>
          </a:p>
        </p:txBody>
      </p:sp>
    </p:spTree>
    <p:extLst>
      <p:ext uri="{BB962C8B-B14F-4D97-AF65-F5344CB8AC3E}">
        <p14:creationId xmlns:p14="http://schemas.microsoft.com/office/powerpoint/2010/main" val="3044034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FFEDA-6CD4-4316-96B0-5DD79603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How to use: ask and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1CE23-2E7E-46DA-8891-5DD781ED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3CB86-E248-467A-856C-516A1316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AA574-BAE4-4FA1-8CA9-84971048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91DCD-6D11-46B7-AC24-855306B7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335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1  Choose your account and enter a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51EFA-23B8-4E43-8AC6-CDC6788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241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2  Read the answer and its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6EE5D-E1EA-47A8-978E-5386ED5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147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3  Open citation [1] to inspect the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180D3-19E6-45D0-A3C6-4A9AD735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72025"/>
            <a:ext cx="5095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4  Rate the answer. Admins review analytics.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F99AC-10BA-4190-846A-29ED24A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9725"/>
            <a:ext cx="5562600" cy="3981450"/>
          </a:xfrm>
          <a:prstGeom xmlns:a="http://schemas.openxmlformats.org/drawingml/2006/main" prst="roundRect">
            <a:avLst>
              <a:gd name="adj" fmla="val 2392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9050">
            <a:solidFill>
              <a:srgbClr val="087C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A33BA-74A9-41EF-93A7-AD5B6BF6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24531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CC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C1"/>
                </a:solidFill>
                <a:latin typeface="Arial"/>
                <a:ea typeface="Arial"/>
                <a:cs typeface="Arial"/>
              </a:rPr>
              <a:t>PRODUCT 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BE956-DC54-4278-9029-17FD93B9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24581"/>
            <a:ext cx="4991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Ask assistant and cited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9CB49-A1B7-47BD-8549-01A13F89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5777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Insert a capture from the deployed app</a:t>
            </a:r>
          </a:p>
        </p:txBody>
      </p:sp>
    </p:spTree>
    <p:extLst>
      <p:ext uri="{BB962C8B-B14F-4D97-AF65-F5344CB8AC3E}">
        <p14:creationId xmlns:p14="http://schemas.microsoft.com/office/powerpoint/2010/main" val="1303030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88423-4184-44EC-908B-7790D873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Enterprise problems it can address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7EC47-F9E1-4EA6-87D2-2EC2A171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DEE44-5D5A-421E-AD8A-11F25C5E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BC060-7708-41FC-98D7-57ED6551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8AD31-039C-4524-AFE5-A579002C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76CBE-BC91-430F-84C3-4ED39E4C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Policy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58EE2-4A72-429C-834B-7E2B0BC2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An employee finds the current leave procedure with a cited policy passage.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D40ED-6782-4D06-A96A-C64CF0D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1F8E5-4CF6-4DD2-9C8A-1360E9F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Operational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F9690-B05C-4898-9DEA-30824C20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An engineer checks a runbook section during a deployment issue.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25214-7774-48CA-A6BE-9C67760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F7D70-000E-48A3-82B5-535E9F5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Controlled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C3001-1917-4078-8AB7-F2FEDA8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A Delivery user cannot retrieve HR-only material; the assistant declines.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AB4A6-AD1E-4450-A3FA-A2313074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43575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Example scenarios use fictional sample documents in this capstone.</a:t>
            </a:r>
          </a:p>
        </p:txBody>
      </p:sp>
    </p:spTree>
    <p:extLst>
      <p:ext uri="{BB962C8B-B14F-4D97-AF65-F5344CB8AC3E}">
        <p14:creationId xmlns:p14="http://schemas.microsoft.com/office/powerpoint/2010/main" val="11037189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AF6B6-0456-4D00-8030-3ED2E26D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Quality signals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8C042-0189-4D88-888A-83837C0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EF127-8F2B-4151-BD04-6B87253C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E20F7-CF1D-42A8-BD48-940F6BE2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8EF60-B91C-4CCF-A4D7-17FE931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In 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5F1A0-5BDD-44CF-8826-E6624256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ED457-1726-4FDE-9CF6-34DA8ED6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79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4E871-BE49-474C-85D2-2A2DA3DC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4791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Source citation, passage preview and document 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FA860-54F3-414E-B399-197543F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9DF76-0784-4EDE-ABC7-985B0A14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9975"/>
            <a:ext cx="479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0D0C9-F1AE-45E7-850A-7A370771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4791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Query route, connector events, no-answer rate and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BAC23-6EC5-4204-A74E-4B0EC45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38300"/>
            <a:ext cx="0" cy="389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C7E80-9558-4FA6-84AA-A908DA91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52575"/>
            <a:ext cx="466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In the codebase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B7327-3D6E-4987-97C5-3809FA16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812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59FA7-199A-4699-95F6-2FF03AF2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Automated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C1D1A-9C18-4B81-81EC-88E71A33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574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Access controls, MCP route, citation and no-answer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D2CAD-AE7B-4804-8DE4-3B9B4044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766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C1CB8-6D42-4601-BB53-372726D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099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Evaluation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49282-2557-47EA-9A4C-139AABCF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528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Six representative questions for repeatable local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3C6B2-22FF-472F-AA17-8CA296B9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These signals help find gaps; they do not prove answer accuracy on real enterprise content.</a:t>
            </a:r>
          </a:p>
        </p:txBody>
      </p:sp>
    </p:spTree>
    <p:extLst>
      <p:ext uri="{BB962C8B-B14F-4D97-AF65-F5344CB8AC3E}">
        <p14:creationId xmlns:p14="http://schemas.microsoft.com/office/powerpoint/2010/main" val="14373539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57043-3E49-4811-8EFE-0ED95B02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Deployment and production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79318-E94B-4E67-8B64-C3884E97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E7F9E-B38E-4C7E-AD46-AF3B1A5D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8B952-3EFC-46B1-BE31-34DA8FC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AA4B-B99D-4646-B116-6DBDC69B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90675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00EDE-FEBB-40B5-BA09-45506A75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33600"/>
            <a:ext cx="44577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Local runnable prototype. A Render blueprint is prepared. No public app URL is recorded in the project yet.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F2052-95D0-44B8-8314-45C0F4D4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47825"/>
            <a:ext cx="0" cy="387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5E34F-661E-4AA8-AEFB-A273F2A6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9067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Before real company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6FD73-BA0D-4238-8FAD-7ABE8BC6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49530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34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44D"/>
                </a:solidFill>
                <a:latin typeface="Arial"/>
                <a:ea typeface="Arial"/>
                <a:cs typeface="Arial"/>
              </a:rPr>
              <a:t>Add enterprise SSO, managed storage and secrets, document scanning, stronger evaluation, privacy review and approved connectors.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4F21D-70C7-428A-A2A3-EB9C48F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86325"/>
            <a:ext cx="106870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DF48A-FBBA-45FB-964C-B6A4A923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CC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CC1"/>
                </a:solidFill>
                <a:latin typeface="Arial"/>
                <a:ea typeface="Arial"/>
                <a:cs typeface="Arial"/>
              </a:rPr>
              <a:t>Present this as a capstone prototype with fictional documents until those controls are complete.</a:t>
            </a:r>
          </a:p>
        </p:txBody>
      </p:sp>
    </p:spTree>
    <p:extLst>
      <p:ext uri="{BB962C8B-B14F-4D97-AF65-F5344CB8AC3E}">
        <p14:creationId xmlns:p14="http://schemas.microsoft.com/office/powerpoint/2010/main" val="18342033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DE0F7-5F19-4153-9750-6E78467C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Project makers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53448-EB8A-4B53-BE19-20559967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A11C1-F8BD-41DE-B2B7-89A0175A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INFOSYS ENTERPRISE GPT  /  CAPSTONE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C0256-DF70-4AF8-A20F-FFDE65A9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1222D-D11C-423D-A97E-26D764A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66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718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7184"/>
                </a:solidFill>
                <a:latin typeface="Arial"/>
                <a:ea typeface="Arial"/>
                <a:cs typeface="Arial"/>
              </a:rPr>
              <a:t>Add names and roles before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C6632-6EA5-4C7D-9F3B-A21B6821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479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0A9CF-0B90-422E-ADFD-E150A8D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479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01   Project maker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B7821-465C-48FD-8EEA-E7EFEBA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746D7-5601-448B-9B05-8EFB957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575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02   Project maker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3F708-DB78-4D50-920F-796F289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672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2C6D6-C77B-4B85-AC35-EDBAB011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671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03   Project maker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593FE-9CA4-4948-A4D5-0FFB5A2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768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31D5E-EE39-4C07-9CA6-C9FC37F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04   Project maker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83E58-A2EC-4B62-B924-A9E8C93E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479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3FE1F-6027-4B44-B83D-138F59B9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479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05   Project maker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59549-2CFB-4853-8530-EF8AA51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576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9829A-AC15-4455-8064-9BD4F059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575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06   Project maker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09991-45CA-478B-91FE-9937548E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4672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0C3AD-C6D7-4654-8307-7D1C422D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671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07   Project maker 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1AAAD-8E38-4907-9D4C-B6032854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768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7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23995-C433-480E-93FE-D81A13D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7677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08   Project maker 8</a:t>
            </a:r>
          </a:p>
        </p:txBody>
      </p:sp>
    </p:spTree>
    <p:extLst>
      <p:ext uri="{BB962C8B-B14F-4D97-AF65-F5344CB8AC3E}">
        <p14:creationId xmlns:p14="http://schemas.microsoft.com/office/powerpoint/2010/main" val="1649755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2026-09-27T06:46:32.3340000Z</dcterms:created>
  <dcterms:modified xsi:type="dcterms:W3CDTF">2026-09-27T06:46:32.3340000Z</dcterms:modified>
</coreProperties>
</file>